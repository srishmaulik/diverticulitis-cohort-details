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73757"/>
  </p:normalViewPr>
  <p:slideViewPr>
    <p:cSldViewPr snapToGrid="0" snapToObjects="1">
      <p:cViewPr varScale="1">
        <p:scale>
          <a:sx n="91" d="100"/>
          <a:sy n="91" d="100"/>
        </p:scale>
        <p:origin x="11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299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ALIGNMENT
Hi everyone. For my project, I studied the use of amoxicillin-clavulanate, also known as Augmentin, in patients with diverticulitis. Very briefly, diverticulitis is inflammation or infection of small pouches, called diverticula, that can form in the wall of the colon.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ALIGNMENT
In Milestone 1, I used structured EHR data to identify 1,946 patients with diverticulitis. Of those, 311 received amoxicillin-clavulanate within 14 days of diagnosis, while 1,635 did not. For Milestone 2, I wanted to see whether clinical notes would tell the same story.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ALIGNMENT
Rather than extract notes for all 1,946 patients, I selected the entire 311-patient treatment cohort and a random sample of 200 patients from the baseline group. That gave me 511 candidate patients. I then extracted Progress Notes within a seven-day window. Only 268 patients had at least one qualifying note: 172 treatment patients and 96 baseline patients. Altogether, I analyzed 771 clinical notes.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ALIGNMENT
I searched those notes for two concepts: diverticulitis and amoxicillin-clavulanate. I used two approaches. The first was simple pattern matching, looking for terms such as “diverticulit,” “amoxicillin,” “clavulanate,” or “Augmentin.” The second was LLM inference using three models: Qwen 2.5 7B Instruct, Llama-3 OpenBioLLM 8B, and Mistral 7B Instruct. Each model classified whether a concept was present in the note as YES or NO. Demographic Table Ones comparing patients stayed broadly consistent across all four methods, matching what we'd expect from the balanced Milestone 1 cohort.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ALIGNMENT
The most interesting result came from comparing drug detection in the notes with the structured EHR cohort assignments. Among the 96 baseline patients, pattern matching produced 10 false positives. Qwen produced only 7 false positives, but it missed 74 of the 172 patients known to have received the drug. Mistral had 37 false positives and 49 false negatives. OpenBioLLM showed the opposite problem: it identified most treated patients, but it labeled 89 out of 96 baseline patients as having the drug, even though the structured data classified them as untreated.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ALIGNMENT
So my main conclusion is that structured EHR medication data was more reliable for identifying drug exposure than extracting that information from clinical notes alone. Clinical notes are valuable because they contain context, such as why a medication was prescribed or how a patient responded. But for strict cohort identification, the LLM results varied substantially across models, with some models over-predicting exposure and others missing true exposures. Overall, Milestone 2 showed that clinical notes can complement structured EHR data, but in this study, they should not replace it for determining whether a patient received amoxicillin-clavulanate. Thank you.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6583680"/>
            <a:ext cx="12191695" cy="274320"/>
          </a:xfrm>
          <a:prstGeom prst="rect">
            <a:avLst/>
          </a:prstGeom>
          <a:solidFill>
            <a:srgbClr val="19324D"/>
          </a:solidFill>
          <a:ln w="12700">
            <a:solidFill>
              <a:srgbClr val="333333">
                <a:alpha val="0"/>
              </a:srgbClr>
            </a:solidFill>
            <a:prstDash val="solid"/>
          </a:ln>
        </p:spPr>
        <p:txBody>
          <a:bodyPr/>
          <a:lstStyle/>
          <a:p>
            <a:endParaRPr lang="en-US"/>
          </a:p>
        </p:txBody>
      </p:sp>
      <p:sp>
        <p:nvSpPr>
          <p:cNvPr id="3" name="Text 1"/>
          <p:cNvSpPr/>
          <p:nvPr/>
        </p:nvSpPr>
        <p:spPr>
          <a:xfrm>
            <a:off x="438912" y="6629400"/>
            <a:ext cx="4572000" cy="109728"/>
          </a:xfrm>
          <a:prstGeom prst="rect">
            <a:avLst/>
          </a:prstGeom>
          <a:noFill/>
          <a:ln/>
        </p:spPr>
        <p:txBody>
          <a:bodyPr wrap="square" lIns="0" tIns="0" rIns="0" bIns="0" rtlCol="0" anchor="ctr"/>
          <a:lstStyle/>
          <a:p>
            <a:pPr marL="0" indent="0">
              <a:buNone/>
            </a:pPr>
            <a:r>
              <a:rPr lang="en-US" sz="750" dirty="0">
                <a:solidFill>
                  <a:srgbClr val="FFFFFF"/>
                </a:solidFill>
                <a:latin typeface="Aptos" pitchFamily="34" charset="0"/>
                <a:ea typeface="Aptos" pitchFamily="34" charset="-122"/>
                <a:cs typeface="Aptos" pitchFamily="34" charset="-120"/>
              </a:rPr>
              <a:t>Milestone 2 • Clinical note validation</a:t>
            </a:r>
            <a:endParaRPr lang="en-US" sz="750" dirty="0"/>
          </a:p>
        </p:txBody>
      </p:sp>
      <p:sp>
        <p:nvSpPr>
          <p:cNvPr id="25" name="Slide Number Placeholder 0"/>
          <p:cNvSpPr>
            <a:spLocks noGrp="1"/>
          </p:cNvSpPr>
          <p:nvPr>
            <p:ph type="sldNum" sz="quarter" idx="4294967295"/>
          </p:nvPr>
        </p:nvSpPr>
        <p:spPr>
          <a:xfrm>
            <a:off x="11384280" y="661111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FFFFFF"/>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61111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FFFFFF"/>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40080" y="676656"/>
            <a:ext cx="2560320" cy="237744"/>
          </a:xfrm>
          <a:prstGeom prst="rect">
            <a:avLst/>
          </a:prstGeom>
          <a:noFill/>
          <a:ln/>
        </p:spPr>
        <p:txBody>
          <a:bodyPr wrap="square" lIns="0" tIns="0" rIns="0" bIns="0" rtlCol="0" anchor="ctr"/>
          <a:lstStyle/>
          <a:p>
            <a:pPr marL="0" indent="0">
              <a:buNone/>
            </a:pPr>
            <a:r>
              <a:rPr lang="en-US" sz="1600" b="1" dirty="0">
                <a:solidFill>
                  <a:srgbClr val="2F7D7E"/>
                </a:solidFill>
              </a:rPr>
              <a:t>Milestone 2</a:t>
            </a:r>
            <a:endParaRPr lang="en-US" sz="1600" dirty="0"/>
          </a:p>
        </p:txBody>
      </p:sp>
      <p:sp>
        <p:nvSpPr>
          <p:cNvPr id="3" name="Text 1"/>
          <p:cNvSpPr/>
          <p:nvPr/>
        </p:nvSpPr>
        <p:spPr>
          <a:xfrm>
            <a:off x="640080" y="1143000"/>
            <a:ext cx="7406640" cy="914400"/>
          </a:xfrm>
          <a:prstGeom prst="rect">
            <a:avLst/>
          </a:prstGeom>
          <a:noFill/>
          <a:ln/>
        </p:spPr>
        <p:txBody>
          <a:bodyPr wrap="square" lIns="0" tIns="0" rIns="0" bIns="0" rtlCol="0" anchor="ctr">
            <a:normAutofit/>
          </a:bodyPr>
          <a:lstStyle/>
          <a:p>
            <a:pPr marL="0" indent="0">
              <a:buNone/>
            </a:pPr>
            <a:r>
              <a:rPr lang="en-US" sz="3900" b="1" dirty="0">
                <a:solidFill>
                  <a:srgbClr val="19324D"/>
                </a:solidFill>
                <a:latin typeface="Aptos Display" pitchFamily="34" charset="0"/>
                <a:ea typeface="Aptos Display" pitchFamily="34" charset="-122"/>
                <a:cs typeface="Aptos Display" pitchFamily="34" charset="-120"/>
              </a:rPr>
              <a:t>Cohort validity using clinical notes</a:t>
            </a:r>
            <a:endParaRPr lang="en-US" sz="3900" dirty="0"/>
          </a:p>
        </p:txBody>
      </p:sp>
      <p:sp>
        <p:nvSpPr>
          <p:cNvPr id="4" name="Text 2"/>
          <p:cNvSpPr/>
          <p:nvPr/>
        </p:nvSpPr>
        <p:spPr>
          <a:xfrm>
            <a:off x="667512" y="2286000"/>
            <a:ext cx="7406640" cy="384048"/>
          </a:xfrm>
          <a:prstGeom prst="rect">
            <a:avLst/>
          </a:prstGeom>
          <a:noFill/>
          <a:ln/>
        </p:spPr>
        <p:txBody>
          <a:bodyPr wrap="square" lIns="0" tIns="0" rIns="0" bIns="0" rtlCol="0" anchor="ctr">
            <a:normAutofit fontScale="92500" lnSpcReduction="20000"/>
          </a:bodyPr>
          <a:lstStyle/>
          <a:p>
            <a:pPr marL="0" indent="0">
              <a:buNone/>
            </a:pPr>
            <a:r>
              <a:rPr lang="en-US" sz="1650" dirty="0">
                <a:solidFill>
                  <a:srgbClr val="18212B"/>
                </a:solidFill>
              </a:rPr>
              <a:t>Diverticulitis patients • Amoxicillin-clavulanate exposure • Structured EHR vs. note extraction</a:t>
            </a:r>
            <a:endParaRPr lang="en-US" sz="1650" dirty="0"/>
          </a:p>
        </p:txBody>
      </p:sp>
      <p:sp>
        <p:nvSpPr>
          <p:cNvPr id="5" name="Text 3"/>
          <p:cNvSpPr/>
          <p:nvPr/>
        </p:nvSpPr>
        <p:spPr>
          <a:xfrm>
            <a:off x="658368" y="3840480"/>
            <a:ext cx="4892040" cy="987552"/>
          </a:xfrm>
          <a:prstGeom prst="rect">
            <a:avLst/>
          </a:prstGeom>
          <a:solidFill>
            <a:srgbClr val="FFFDF8"/>
          </a:solidFill>
          <a:ln w="12700">
            <a:solidFill>
              <a:srgbClr val="D7D3C8"/>
            </a:solidFill>
          </a:ln>
          <a:effectLst>
            <a:outerShdw blurRad="19050" dist="12700" dir="2700000" algn="bl" rotWithShape="0">
              <a:srgbClr val="000000">
                <a:alpha val="12000"/>
              </a:srgbClr>
            </a:outerShdw>
          </a:effectLst>
        </p:spPr>
        <p:txBody>
          <a:bodyPr wrap="square" lIns="1016" tIns="1016" rIns="1016" bIns="1016" rtlCol="0" anchor="ctr">
            <a:normAutofit/>
          </a:bodyPr>
          <a:lstStyle/>
          <a:p>
            <a:pPr marL="0" indent="0" algn="l">
              <a:buNone/>
            </a:pPr>
            <a:r>
              <a:rPr lang="en-US" sz="1500" dirty="0">
                <a:solidFill>
                  <a:srgbClr val="18212B"/>
                </a:solidFill>
              </a:rPr>
              <a:t>What is diverticulitis?</a:t>
            </a:r>
            <a:endParaRPr lang="en-US" sz="1500" dirty="0"/>
          </a:p>
          <a:p>
            <a:pPr marL="0" indent="0" algn="l">
              <a:buNone/>
            </a:pPr>
            <a:r>
              <a:rPr lang="en-US" sz="1500" dirty="0">
                <a:solidFill>
                  <a:srgbClr val="18212B"/>
                </a:solidFill>
              </a:rPr>
              <a:t>Inflammation of small colon pouches called diverticula.</a:t>
            </a:r>
            <a:endParaRPr lang="en-US" sz="1500" dirty="0"/>
          </a:p>
        </p:txBody>
      </p:sp>
      <p:sp>
        <p:nvSpPr>
          <p:cNvPr id="6" name="Text 4"/>
          <p:cNvSpPr/>
          <p:nvPr/>
        </p:nvSpPr>
        <p:spPr>
          <a:xfrm>
            <a:off x="658368" y="5760720"/>
            <a:ext cx="2926080" cy="182880"/>
          </a:xfrm>
          <a:prstGeom prst="rect">
            <a:avLst/>
          </a:prstGeom>
          <a:noFill/>
          <a:ln/>
        </p:spPr>
        <p:txBody>
          <a:bodyPr wrap="square" lIns="0" tIns="0" rIns="0" bIns="0" rtlCol="0" anchor="ctr"/>
          <a:lstStyle/>
          <a:p>
            <a:pPr marL="0" indent="0">
              <a:buNone/>
            </a:pPr>
            <a:r>
              <a:rPr lang="en-US" sz="1200" dirty="0">
                <a:solidFill>
                  <a:srgbClr val="69737D"/>
                </a:solidFill>
              </a:rPr>
              <a:t>Srish Guha Maulik</a:t>
            </a:r>
            <a:endParaRPr lang="en-US" sz="1200" dirty="0"/>
          </a:p>
        </p:txBody>
      </p:sp>
      <p:sp>
        <p:nvSpPr>
          <p:cNvPr id="7" name="Text 5"/>
          <p:cNvSpPr/>
          <p:nvPr/>
        </p:nvSpPr>
        <p:spPr>
          <a:xfrm>
            <a:off x="8229600" y="1298448"/>
            <a:ext cx="2423160" cy="3246120"/>
          </a:xfrm>
          <a:prstGeom prst="rect">
            <a:avLst/>
          </a:prstGeom>
          <a:solidFill>
            <a:srgbClr val="E9F4F2"/>
          </a:solidFill>
          <a:ln w="12700">
            <a:solidFill>
              <a:srgbClr val="2F7D7E"/>
            </a:solidFill>
          </a:ln>
        </p:spPr>
        <p:txBody>
          <a:bodyPr wrap="square" lIns="1016" tIns="1016" rIns="1016" bIns="1016" rtlCol="0" anchor="ctr">
            <a:normAutofit/>
          </a:bodyPr>
          <a:lstStyle/>
          <a:p>
            <a:pPr marL="0" indent="0" algn="ctr">
              <a:buNone/>
            </a:pPr>
            <a:r>
              <a:rPr lang="en-US" sz="1800" b="1" dirty="0">
                <a:solidFill>
                  <a:srgbClr val="19324D"/>
                </a:solidFill>
              </a:rPr>
              <a:t>Structured EHR</a:t>
            </a:r>
            <a:endParaRPr lang="en-US" sz="1800" dirty="0"/>
          </a:p>
          <a:p>
            <a:pPr marL="0" indent="0" algn="ctr">
              <a:buNone/>
            </a:pPr>
            <a:r>
              <a:rPr lang="en-US" sz="1800" b="1" dirty="0">
                <a:solidFill>
                  <a:srgbClr val="19324D"/>
                </a:solidFill>
              </a:rPr>
              <a:t>↓</a:t>
            </a:r>
            <a:endParaRPr lang="en-US" sz="1800" dirty="0"/>
          </a:p>
          <a:p>
            <a:pPr marL="0" indent="0" algn="ctr">
              <a:buNone/>
            </a:pPr>
            <a:r>
              <a:rPr lang="en-US" sz="1800" b="1" dirty="0">
                <a:solidFill>
                  <a:srgbClr val="19324D"/>
                </a:solidFill>
              </a:rPr>
              <a:t>Clinical notes</a:t>
            </a:r>
            <a:endParaRPr lang="en-US" sz="1800" dirty="0"/>
          </a:p>
          <a:p>
            <a:pPr marL="0" indent="0" algn="ctr">
              <a:buNone/>
            </a:pPr>
            <a:r>
              <a:rPr lang="en-US" sz="1800" b="1" dirty="0">
                <a:solidFill>
                  <a:srgbClr val="19324D"/>
                </a:solidFill>
              </a:rPr>
              <a:t>↓</a:t>
            </a:r>
            <a:endParaRPr lang="en-US" sz="1800" dirty="0"/>
          </a:p>
          <a:p>
            <a:pPr marL="0" indent="0" algn="ctr">
              <a:buNone/>
            </a:pPr>
            <a:r>
              <a:rPr lang="en-US" sz="1800" b="1" dirty="0">
                <a:solidFill>
                  <a:srgbClr val="19324D"/>
                </a:solidFill>
              </a:rPr>
              <a:t>Method comparison</a:t>
            </a:r>
            <a:endParaRPr lang="en-US" sz="1800" dirty="0"/>
          </a:p>
        </p:txBody>
      </p:sp>
      <p:sp>
        <p:nvSpPr>
          <p:cNvPr id="25" name="Slide Number Placeholder 0"/>
          <p:cNvSpPr>
            <a:spLocks noGrp="1"/>
          </p:cNvSpPr>
          <p:nvPr>
            <p:ph type="sldNum" sz="quarter" idx="4294967295"/>
          </p:nvPr>
        </p:nvSpPr>
        <p:spPr>
          <a:xfrm>
            <a:off x="11384280" y="661111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FFFFFF"/>
                </a:solidFill>
              </a:defRPr>
            </a:lvl1pPr>
          </a:lstStyle>
          <a:p>
            <a:pPr algn="l"/>
            <a:fld id="{F7021451-1387-4CA6-816F-3879F97B5CBC}" type="slidenum">
              <a:rPr lang="en-US" b="0"/>
              <a:t>1</a:t>
            </a:fld>
            <a:endParaRPr lang="en-US"/>
          </a:p>
        </p:txBody>
      </p:sp>
      <p:pic>
        <p:nvPicPr>
          <p:cNvPr id="10" name="Audio 9">
            <a:extLst>
              <a:ext uri="{FF2B5EF4-FFF2-40B4-BE49-F238E27FC236}">
                <a16:creationId xmlns:a16="http://schemas.microsoft.com/office/drawing/2014/main" id="{1630D0C6-737D-A713-1B29-C67A16DC768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576"/>
    </mc:Choice>
    <mc:Fallback>
      <p:transition spd="slow" advTm="165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02920" y="292608"/>
            <a:ext cx="11064240" cy="411480"/>
          </a:xfrm>
          <a:prstGeom prst="rect">
            <a:avLst/>
          </a:prstGeom>
          <a:noFill/>
          <a:ln/>
        </p:spPr>
        <p:txBody>
          <a:bodyPr wrap="square" lIns="0" tIns="0" rIns="0" bIns="0" rtlCol="0" anchor="ctr"/>
          <a:lstStyle/>
          <a:p>
            <a:pPr marL="0" indent="0">
              <a:buNone/>
            </a:pPr>
            <a:r>
              <a:rPr lang="en-US" sz="2700" b="1" dirty="0">
                <a:solidFill>
                  <a:srgbClr val="19324D"/>
                </a:solidFill>
                <a:latin typeface="Aptos Display" pitchFamily="34" charset="0"/>
                <a:ea typeface="Aptos Display" pitchFamily="34" charset="-122"/>
                <a:cs typeface="Aptos Display" pitchFamily="34" charset="-120"/>
              </a:rPr>
              <a:t>Milestone 1 built the structured cohort</a:t>
            </a:r>
            <a:endParaRPr lang="en-US" sz="2700" dirty="0"/>
          </a:p>
        </p:txBody>
      </p:sp>
      <p:sp>
        <p:nvSpPr>
          <p:cNvPr id="3" name="Text 1"/>
          <p:cNvSpPr/>
          <p:nvPr/>
        </p:nvSpPr>
        <p:spPr>
          <a:xfrm>
            <a:off x="530352" y="777240"/>
            <a:ext cx="10789920" cy="201168"/>
          </a:xfrm>
          <a:prstGeom prst="rect">
            <a:avLst/>
          </a:prstGeom>
          <a:noFill/>
          <a:ln/>
        </p:spPr>
        <p:txBody>
          <a:bodyPr wrap="square" lIns="0" tIns="0" rIns="0" bIns="0" rtlCol="0" anchor="ctr"/>
          <a:lstStyle/>
          <a:p>
            <a:pPr marL="0" indent="0">
              <a:buNone/>
            </a:pPr>
            <a:r>
              <a:rPr lang="en-US" sz="1150" dirty="0">
                <a:solidFill>
                  <a:srgbClr val="69737D"/>
                </a:solidFill>
              </a:rPr>
              <a:t>Diagnosis and medication records defined who qualified and who received treatment</a:t>
            </a:r>
            <a:endParaRPr lang="en-US" sz="1150" dirty="0"/>
          </a:p>
        </p:txBody>
      </p:sp>
      <p:sp>
        <p:nvSpPr>
          <p:cNvPr id="4" name="Text 2"/>
          <p:cNvSpPr/>
          <p:nvPr/>
        </p:nvSpPr>
        <p:spPr>
          <a:xfrm>
            <a:off x="868680" y="1874520"/>
            <a:ext cx="2194560" cy="1188720"/>
          </a:xfrm>
          <a:prstGeom prst="rect">
            <a:avLst/>
          </a:prstGeom>
          <a:solidFill>
            <a:srgbClr val="FFFDF8"/>
          </a:solidFill>
          <a:ln w="12700">
            <a:solidFill>
              <a:srgbClr val="D7D3C8"/>
            </a:solidFill>
          </a:ln>
        </p:spPr>
        <p:txBody>
          <a:bodyPr wrap="square" lIns="1016" tIns="1016" rIns="1016" bIns="1016" rtlCol="0" anchor="ctr">
            <a:normAutofit/>
          </a:bodyPr>
          <a:lstStyle/>
          <a:p>
            <a:pPr marL="0" indent="0" algn="ctr">
              <a:buNone/>
            </a:pPr>
            <a:r>
              <a:rPr lang="en-US" sz="1800" b="1" dirty="0">
                <a:solidFill>
                  <a:srgbClr val="19324D"/>
                </a:solidFill>
              </a:rPr>
              <a:t>1,946</a:t>
            </a:r>
            <a:endParaRPr lang="en-US" sz="1800" dirty="0"/>
          </a:p>
          <a:p>
            <a:pPr marL="0" indent="0" algn="ctr">
              <a:buNone/>
            </a:pPr>
            <a:r>
              <a:rPr lang="en-US" sz="1800" b="1" dirty="0">
                <a:solidFill>
                  <a:srgbClr val="19324D"/>
                </a:solidFill>
              </a:rPr>
              <a:t>qualifying patients</a:t>
            </a:r>
            <a:endParaRPr lang="en-US" sz="1800" dirty="0"/>
          </a:p>
          <a:p>
            <a:pPr marL="0" indent="0" algn="ctr">
              <a:buNone/>
            </a:pPr>
            <a:r>
              <a:rPr lang="en-US" sz="1800" b="1" dirty="0">
                <a:solidFill>
                  <a:srgbClr val="19324D"/>
                </a:solidFill>
              </a:rPr>
              <a:t>with diverticulitis</a:t>
            </a:r>
            <a:endParaRPr lang="en-US" sz="1800" dirty="0"/>
          </a:p>
        </p:txBody>
      </p:sp>
      <p:sp>
        <p:nvSpPr>
          <p:cNvPr id="5" name="Shape 3"/>
          <p:cNvSpPr/>
          <p:nvPr/>
        </p:nvSpPr>
        <p:spPr>
          <a:xfrm>
            <a:off x="3246120" y="2468880"/>
            <a:ext cx="640080" cy="0"/>
          </a:xfrm>
          <a:prstGeom prst="line">
            <a:avLst/>
          </a:prstGeom>
          <a:noFill/>
          <a:ln w="17780">
            <a:solidFill>
              <a:srgbClr val="2F7D7E"/>
            </a:solidFill>
            <a:prstDash val="solid"/>
            <a:tailEnd type="triangle"/>
          </a:ln>
        </p:spPr>
        <p:txBody>
          <a:bodyPr/>
          <a:lstStyle/>
          <a:p>
            <a:endParaRPr lang="en-US"/>
          </a:p>
        </p:txBody>
      </p:sp>
      <p:sp>
        <p:nvSpPr>
          <p:cNvPr id="6" name="Text 4"/>
          <p:cNvSpPr/>
          <p:nvPr/>
        </p:nvSpPr>
        <p:spPr>
          <a:xfrm>
            <a:off x="4069080" y="1874520"/>
            <a:ext cx="2194560" cy="1188720"/>
          </a:xfrm>
          <a:prstGeom prst="rect">
            <a:avLst/>
          </a:prstGeom>
          <a:solidFill>
            <a:srgbClr val="E9F4F2"/>
          </a:solidFill>
          <a:ln w="12700">
            <a:solidFill>
              <a:srgbClr val="2F7D7E"/>
            </a:solidFill>
          </a:ln>
        </p:spPr>
        <p:txBody>
          <a:bodyPr wrap="square" lIns="1016" tIns="1016" rIns="1016" bIns="1016" rtlCol="0" anchor="ctr">
            <a:normAutofit/>
          </a:bodyPr>
          <a:lstStyle/>
          <a:p>
            <a:pPr marL="0" indent="0" algn="ctr">
              <a:buNone/>
            </a:pPr>
            <a:r>
              <a:rPr lang="en-US" sz="1800" b="1" dirty="0">
                <a:solidFill>
                  <a:srgbClr val="2F7D7E"/>
                </a:solidFill>
              </a:rPr>
              <a:t>311</a:t>
            </a:r>
            <a:endParaRPr lang="en-US" sz="1800" dirty="0"/>
          </a:p>
          <a:p>
            <a:pPr marL="0" indent="0" algn="ctr">
              <a:buNone/>
            </a:pPr>
            <a:r>
              <a:rPr lang="en-US" sz="1800" b="1" dirty="0">
                <a:solidFill>
                  <a:srgbClr val="2F7D7E"/>
                </a:solidFill>
              </a:rPr>
              <a:t>received amoxicillin-</a:t>
            </a:r>
            <a:endParaRPr lang="en-US" sz="1800" dirty="0"/>
          </a:p>
          <a:p>
            <a:pPr marL="0" indent="0" algn="ctr">
              <a:buNone/>
            </a:pPr>
            <a:r>
              <a:rPr lang="en-US" sz="1800" b="1" dirty="0">
                <a:solidFill>
                  <a:srgbClr val="2F7D7E"/>
                </a:solidFill>
              </a:rPr>
              <a:t>clavulanate ≤14 days</a:t>
            </a:r>
            <a:endParaRPr lang="en-US" sz="1800" dirty="0"/>
          </a:p>
        </p:txBody>
      </p:sp>
      <p:sp>
        <p:nvSpPr>
          <p:cNvPr id="7" name="Shape 5"/>
          <p:cNvSpPr/>
          <p:nvPr/>
        </p:nvSpPr>
        <p:spPr>
          <a:xfrm>
            <a:off x="6446520" y="2468880"/>
            <a:ext cx="640080" cy="0"/>
          </a:xfrm>
          <a:prstGeom prst="line">
            <a:avLst/>
          </a:prstGeom>
          <a:noFill/>
          <a:ln w="17780">
            <a:solidFill>
              <a:srgbClr val="C96A55"/>
            </a:solidFill>
            <a:prstDash val="solid"/>
            <a:tailEnd type="triangle"/>
          </a:ln>
        </p:spPr>
        <p:txBody>
          <a:bodyPr/>
          <a:lstStyle/>
          <a:p>
            <a:endParaRPr lang="en-US"/>
          </a:p>
        </p:txBody>
      </p:sp>
      <p:sp>
        <p:nvSpPr>
          <p:cNvPr id="8" name="Text 6"/>
          <p:cNvSpPr/>
          <p:nvPr/>
        </p:nvSpPr>
        <p:spPr>
          <a:xfrm>
            <a:off x="7269480" y="1874520"/>
            <a:ext cx="2194560" cy="1188720"/>
          </a:xfrm>
          <a:prstGeom prst="rect">
            <a:avLst/>
          </a:prstGeom>
          <a:solidFill>
            <a:srgbClr val="F9ECE8"/>
          </a:solidFill>
          <a:ln w="12700">
            <a:solidFill>
              <a:srgbClr val="C96A55"/>
            </a:solidFill>
          </a:ln>
        </p:spPr>
        <p:txBody>
          <a:bodyPr wrap="square" lIns="1016" tIns="1016" rIns="1016" bIns="1016" rtlCol="0" anchor="ctr">
            <a:normAutofit/>
          </a:bodyPr>
          <a:lstStyle/>
          <a:p>
            <a:pPr marL="0" indent="0" algn="ctr">
              <a:buNone/>
            </a:pPr>
            <a:r>
              <a:rPr lang="en-US" sz="1800" b="1" dirty="0">
                <a:solidFill>
                  <a:srgbClr val="C96A55"/>
                </a:solidFill>
              </a:rPr>
              <a:t>1,635</a:t>
            </a:r>
            <a:endParaRPr lang="en-US" sz="1800" dirty="0"/>
          </a:p>
          <a:p>
            <a:pPr marL="0" indent="0" algn="ctr">
              <a:buNone/>
            </a:pPr>
            <a:r>
              <a:rPr lang="en-US" sz="1800" b="1" dirty="0">
                <a:solidFill>
                  <a:srgbClr val="C96A55"/>
                </a:solidFill>
              </a:rPr>
              <a:t>baseline / no drug</a:t>
            </a:r>
            <a:endParaRPr lang="en-US" sz="1800" dirty="0"/>
          </a:p>
          <a:p>
            <a:pPr marL="0" indent="0" algn="ctr">
              <a:buNone/>
            </a:pPr>
            <a:r>
              <a:rPr lang="en-US" sz="1800" b="1" dirty="0">
                <a:solidFill>
                  <a:srgbClr val="C96A55"/>
                </a:solidFill>
              </a:rPr>
              <a:t>within the window</a:t>
            </a:r>
            <a:endParaRPr lang="en-US" sz="1800" dirty="0"/>
          </a:p>
        </p:txBody>
      </p:sp>
      <p:sp>
        <p:nvSpPr>
          <p:cNvPr id="9" name="Text 7"/>
          <p:cNvSpPr/>
          <p:nvPr/>
        </p:nvSpPr>
        <p:spPr>
          <a:xfrm>
            <a:off x="914400" y="4297680"/>
            <a:ext cx="10012680" cy="658368"/>
          </a:xfrm>
          <a:prstGeom prst="rect">
            <a:avLst/>
          </a:prstGeom>
          <a:solidFill>
            <a:srgbClr val="19324D"/>
          </a:solidFill>
          <a:ln w="12700">
            <a:solidFill>
              <a:srgbClr val="19324D"/>
            </a:solidFill>
          </a:ln>
        </p:spPr>
        <p:txBody>
          <a:bodyPr wrap="square" lIns="1016" tIns="1016" rIns="1016" bIns="1016" rtlCol="0" anchor="ctr">
            <a:normAutofit/>
          </a:bodyPr>
          <a:lstStyle/>
          <a:p>
            <a:pPr marL="0" indent="0" algn="ctr">
              <a:buNone/>
            </a:pPr>
            <a:r>
              <a:rPr lang="en-US" sz="1600" b="1" dirty="0">
                <a:solidFill>
                  <a:srgbClr val="FFFFFF"/>
                </a:solidFill>
              </a:rPr>
              <a:t>Milestone 2 question: Do clinical notes recover the same diagnosis and drug-exposure concepts as structured EHR data?</a:t>
            </a:r>
            <a:endParaRPr lang="en-US" sz="1600" dirty="0"/>
          </a:p>
        </p:txBody>
      </p:sp>
      <p:sp>
        <p:nvSpPr>
          <p:cNvPr id="25" name="Slide Number Placeholder 0"/>
          <p:cNvSpPr>
            <a:spLocks noGrp="1"/>
          </p:cNvSpPr>
          <p:nvPr>
            <p:ph type="sldNum" sz="quarter" idx="4294967295"/>
          </p:nvPr>
        </p:nvSpPr>
        <p:spPr>
          <a:xfrm>
            <a:off x="11384280" y="661111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FFFFFF"/>
                </a:solidFill>
              </a:defRPr>
            </a:lvl1pPr>
          </a:lstStyle>
          <a:p>
            <a:pPr algn="l"/>
            <a:fld id="{F7021451-1387-4CA6-816F-3879F97B5CBC}" type="slidenum">
              <a:rPr lang="en-US" b="0"/>
              <a:t>2</a:t>
            </a:fld>
            <a:endParaRPr lang="en-US"/>
          </a:p>
        </p:txBody>
      </p:sp>
      <p:pic>
        <p:nvPicPr>
          <p:cNvPr id="12" name="Audio 11">
            <a:extLst>
              <a:ext uri="{FF2B5EF4-FFF2-40B4-BE49-F238E27FC236}">
                <a16:creationId xmlns:a16="http://schemas.microsoft.com/office/drawing/2014/main" id="{4F310374-A2F0-C6E6-D994-18C6A5CC631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762"/>
    </mc:Choice>
    <mc:Fallback>
      <p:transition spd="slow" advTm="187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02920" y="292608"/>
            <a:ext cx="11064240" cy="411480"/>
          </a:xfrm>
          <a:prstGeom prst="rect">
            <a:avLst/>
          </a:prstGeom>
          <a:noFill/>
          <a:ln/>
        </p:spPr>
        <p:txBody>
          <a:bodyPr wrap="square" lIns="0" tIns="0" rIns="0" bIns="0" rtlCol="0" anchor="ctr"/>
          <a:lstStyle/>
          <a:p>
            <a:pPr marL="0" indent="0">
              <a:buNone/>
            </a:pPr>
            <a:r>
              <a:rPr lang="en-US" sz="2700" b="1" dirty="0">
                <a:solidFill>
                  <a:srgbClr val="19324D"/>
                </a:solidFill>
                <a:latin typeface="Aptos Display" pitchFamily="34" charset="0"/>
                <a:ea typeface="Aptos Display" pitchFamily="34" charset="-122"/>
                <a:cs typeface="Aptos Display" pitchFamily="34" charset="-120"/>
              </a:rPr>
              <a:t>Note extraction narrowed the analytic sample</a:t>
            </a:r>
            <a:endParaRPr lang="en-US" sz="2700" dirty="0"/>
          </a:p>
        </p:txBody>
      </p:sp>
      <p:sp>
        <p:nvSpPr>
          <p:cNvPr id="3" name="Text 1"/>
          <p:cNvSpPr/>
          <p:nvPr/>
        </p:nvSpPr>
        <p:spPr>
          <a:xfrm>
            <a:off x="530352" y="777240"/>
            <a:ext cx="10789920" cy="201168"/>
          </a:xfrm>
          <a:prstGeom prst="rect">
            <a:avLst/>
          </a:prstGeom>
          <a:noFill/>
          <a:ln/>
        </p:spPr>
        <p:txBody>
          <a:bodyPr wrap="square" lIns="0" tIns="0" rIns="0" bIns="0" rtlCol="0" anchor="ctr"/>
          <a:lstStyle/>
          <a:p>
            <a:pPr marL="0" indent="0">
              <a:buNone/>
            </a:pPr>
            <a:r>
              <a:rPr lang="en-US" sz="1150" dirty="0">
                <a:solidFill>
                  <a:srgbClr val="69737D"/>
                </a:solidFill>
              </a:rPr>
              <a:t>Progress Notes only, within a 7-day window around cohort entry / treatment anchor</a:t>
            </a:r>
            <a:endParaRPr lang="en-US" sz="1150" dirty="0"/>
          </a:p>
        </p:txBody>
      </p:sp>
      <p:sp>
        <p:nvSpPr>
          <p:cNvPr id="4" name="Text 2"/>
          <p:cNvSpPr/>
          <p:nvPr/>
        </p:nvSpPr>
        <p:spPr>
          <a:xfrm>
            <a:off x="731520" y="1691640"/>
            <a:ext cx="2331720" cy="1143000"/>
          </a:xfrm>
          <a:prstGeom prst="rect">
            <a:avLst/>
          </a:prstGeom>
          <a:solidFill>
            <a:srgbClr val="FFFDF8"/>
          </a:solidFill>
          <a:ln w="12700">
            <a:solidFill>
              <a:srgbClr val="D7D3C8"/>
            </a:solidFill>
          </a:ln>
        </p:spPr>
        <p:txBody>
          <a:bodyPr wrap="square" lIns="1016" tIns="1016" rIns="1016" bIns="1016" rtlCol="0" anchor="ctr">
            <a:normAutofit/>
          </a:bodyPr>
          <a:lstStyle/>
          <a:p>
            <a:pPr marL="0" indent="0" algn="ctr">
              <a:buNone/>
            </a:pPr>
            <a:r>
              <a:rPr lang="en-US" sz="1700" b="1" dirty="0">
                <a:solidFill>
                  <a:srgbClr val="19324D"/>
                </a:solidFill>
              </a:rPr>
              <a:t>511</a:t>
            </a:r>
            <a:endParaRPr lang="en-US" sz="1700" dirty="0"/>
          </a:p>
          <a:p>
            <a:pPr marL="0" indent="0" algn="ctr">
              <a:buNone/>
            </a:pPr>
            <a:r>
              <a:rPr lang="en-US" sz="1700" b="1" dirty="0">
                <a:solidFill>
                  <a:srgbClr val="19324D"/>
                </a:solidFill>
              </a:rPr>
              <a:t>candidate patients</a:t>
            </a:r>
            <a:endParaRPr lang="en-US" sz="1700" dirty="0"/>
          </a:p>
          <a:p>
            <a:pPr marL="0" indent="0" algn="ctr">
              <a:buNone/>
            </a:pPr>
            <a:r>
              <a:rPr lang="en-US" sz="1700" b="1" dirty="0">
                <a:solidFill>
                  <a:srgbClr val="19324D"/>
                </a:solidFill>
              </a:rPr>
              <a:t>311 treatment + 200 baseline</a:t>
            </a:r>
            <a:endParaRPr lang="en-US" sz="1700" dirty="0"/>
          </a:p>
        </p:txBody>
      </p:sp>
      <p:sp>
        <p:nvSpPr>
          <p:cNvPr id="5" name="Shape 3"/>
          <p:cNvSpPr/>
          <p:nvPr/>
        </p:nvSpPr>
        <p:spPr>
          <a:xfrm>
            <a:off x="3291840" y="2267712"/>
            <a:ext cx="685800" cy="0"/>
          </a:xfrm>
          <a:prstGeom prst="line">
            <a:avLst/>
          </a:prstGeom>
          <a:noFill/>
          <a:ln w="17780">
            <a:solidFill>
              <a:srgbClr val="2F7D7E"/>
            </a:solidFill>
            <a:prstDash val="solid"/>
            <a:tailEnd type="triangle"/>
          </a:ln>
        </p:spPr>
        <p:txBody>
          <a:bodyPr/>
          <a:lstStyle/>
          <a:p>
            <a:endParaRPr lang="en-US"/>
          </a:p>
        </p:txBody>
      </p:sp>
      <p:sp>
        <p:nvSpPr>
          <p:cNvPr id="6" name="Text 4"/>
          <p:cNvSpPr/>
          <p:nvPr/>
        </p:nvSpPr>
        <p:spPr>
          <a:xfrm>
            <a:off x="4206240" y="1691640"/>
            <a:ext cx="2331720" cy="1143000"/>
          </a:xfrm>
          <a:prstGeom prst="rect">
            <a:avLst/>
          </a:prstGeom>
          <a:solidFill>
            <a:srgbClr val="E9F4F2"/>
          </a:solidFill>
          <a:ln w="12700">
            <a:solidFill>
              <a:srgbClr val="2F7D7E"/>
            </a:solidFill>
          </a:ln>
        </p:spPr>
        <p:txBody>
          <a:bodyPr wrap="square" lIns="1016" tIns="1016" rIns="1016" bIns="1016" rtlCol="0" anchor="ctr">
            <a:normAutofit/>
          </a:bodyPr>
          <a:lstStyle/>
          <a:p>
            <a:pPr marL="0" indent="0" algn="ctr">
              <a:buNone/>
            </a:pPr>
            <a:r>
              <a:rPr lang="en-US" sz="1700" b="1" dirty="0">
                <a:solidFill>
                  <a:srgbClr val="2F7D7E"/>
                </a:solidFill>
              </a:rPr>
              <a:t>268</a:t>
            </a:r>
            <a:endParaRPr lang="en-US" sz="1700" dirty="0"/>
          </a:p>
          <a:p>
            <a:pPr marL="0" indent="0" algn="ctr">
              <a:buNone/>
            </a:pPr>
            <a:r>
              <a:rPr lang="en-US" sz="1700" b="1" dirty="0">
                <a:solidFill>
                  <a:srgbClr val="2F7D7E"/>
                </a:solidFill>
              </a:rPr>
              <a:t>patients with ≥1</a:t>
            </a:r>
            <a:endParaRPr lang="en-US" sz="1700" dirty="0"/>
          </a:p>
          <a:p>
            <a:pPr marL="0" indent="0" algn="ctr">
              <a:buNone/>
            </a:pPr>
            <a:r>
              <a:rPr lang="en-US" sz="1700" b="1" dirty="0">
                <a:solidFill>
                  <a:srgbClr val="2F7D7E"/>
                </a:solidFill>
              </a:rPr>
              <a:t>qualifying Progress Note</a:t>
            </a:r>
            <a:endParaRPr lang="en-US" sz="1700" dirty="0"/>
          </a:p>
        </p:txBody>
      </p:sp>
      <p:sp>
        <p:nvSpPr>
          <p:cNvPr id="7" name="Shape 5"/>
          <p:cNvSpPr/>
          <p:nvPr/>
        </p:nvSpPr>
        <p:spPr>
          <a:xfrm>
            <a:off x="6766560" y="2267712"/>
            <a:ext cx="685800" cy="0"/>
          </a:xfrm>
          <a:prstGeom prst="line">
            <a:avLst/>
          </a:prstGeom>
          <a:noFill/>
          <a:ln w="17780">
            <a:solidFill>
              <a:srgbClr val="D6A85A"/>
            </a:solidFill>
            <a:prstDash val="solid"/>
            <a:tailEnd type="triangle"/>
          </a:ln>
        </p:spPr>
        <p:txBody>
          <a:bodyPr/>
          <a:lstStyle/>
          <a:p>
            <a:endParaRPr lang="en-US"/>
          </a:p>
        </p:txBody>
      </p:sp>
      <p:sp>
        <p:nvSpPr>
          <p:cNvPr id="8" name="Text 6"/>
          <p:cNvSpPr/>
          <p:nvPr/>
        </p:nvSpPr>
        <p:spPr>
          <a:xfrm>
            <a:off x="7680960" y="1691640"/>
            <a:ext cx="2331720" cy="1143000"/>
          </a:xfrm>
          <a:prstGeom prst="rect">
            <a:avLst/>
          </a:prstGeom>
          <a:solidFill>
            <a:srgbClr val="FFF5E3"/>
          </a:solidFill>
          <a:ln w="12700">
            <a:solidFill>
              <a:srgbClr val="D6A85A"/>
            </a:solidFill>
          </a:ln>
        </p:spPr>
        <p:txBody>
          <a:bodyPr wrap="square" lIns="1016" tIns="1016" rIns="1016" bIns="1016" rtlCol="0" anchor="ctr">
            <a:normAutofit/>
          </a:bodyPr>
          <a:lstStyle/>
          <a:p>
            <a:pPr marL="0" indent="0" algn="ctr">
              <a:buNone/>
            </a:pPr>
            <a:r>
              <a:rPr lang="en-US" sz="1700" b="1" dirty="0">
                <a:solidFill>
                  <a:srgbClr val="D6A85A"/>
                </a:solidFill>
              </a:rPr>
              <a:t>771</a:t>
            </a:r>
            <a:endParaRPr lang="en-US" sz="1700" dirty="0"/>
          </a:p>
          <a:p>
            <a:pPr marL="0" indent="0" algn="ctr">
              <a:buNone/>
            </a:pPr>
            <a:r>
              <a:rPr lang="en-US" sz="1700" b="1" dirty="0">
                <a:solidFill>
                  <a:srgbClr val="D6A85A"/>
                </a:solidFill>
              </a:rPr>
              <a:t>total notes analyzed</a:t>
            </a:r>
            <a:endParaRPr lang="en-US" sz="1700" dirty="0"/>
          </a:p>
          <a:p>
            <a:pPr marL="0" indent="0" algn="ctr">
              <a:buNone/>
            </a:pPr>
            <a:r>
              <a:rPr lang="en-US" sz="1700" b="1" dirty="0">
                <a:solidFill>
                  <a:srgbClr val="D6A85A"/>
                </a:solidFill>
              </a:rPr>
              <a:t>396 treatment + 375 baseline</a:t>
            </a:r>
            <a:endParaRPr lang="en-US" sz="1700" dirty="0"/>
          </a:p>
        </p:txBody>
      </p:sp>
      <p:sp>
        <p:nvSpPr>
          <p:cNvPr id="9" name="Shape 7"/>
          <p:cNvSpPr/>
          <p:nvPr/>
        </p:nvSpPr>
        <p:spPr>
          <a:xfrm>
            <a:off x="3017520" y="3310128"/>
            <a:ext cx="4297680" cy="0"/>
          </a:xfrm>
          <a:prstGeom prst="line">
            <a:avLst/>
          </a:prstGeom>
          <a:noFill/>
          <a:ln w="13970">
            <a:solidFill>
              <a:srgbClr val="D7D3C8"/>
            </a:solidFill>
            <a:prstDash val="solid"/>
          </a:ln>
        </p:spPr>
        <p:txBody>
          <a:bodyPr/>
          <a:lstStyle/>
          <a:p>
            <a:endParaRPr lang="en-US"/>
          </a:p>
        </p:txBody>
      </p:sp>
      <p:sp>
        <p:nvSpPr>
          <p:cNvPr id="10" name="Text 8"/>
          <p:cNvSpPr/>
          <p:nvPr/>
        </p:nvSpPr>
        <p:spPr>
          <a:xfrm>
            <a:off x="3246120" y="3474720"/>
            <a:ext cx="4480560" cy="201168"/>
          </a:xfrm>
          <a:prstGeom prst="rect">
            <a:avLst/>
          </a:prstGeom>
          <a:noFill/>
          <a:ln/>
        </p:spPr>
        <p:txBody>
          <a:bodyPr wrap="square" lIns="0" tIns="0" rIns="0" bIns="0" rtlCol="0" anchor="ctr"/>
          <a:lstStyle/>
          <a:p>
            <a:pPr marL="0" indent="0" algn="ctr">
              <a:buNone/>
            </a:pPr>
            <a:r>
              <a:rPr lang="en-US" sz="1250" dirty="0">
                <a:solidFill>
                  <a:srgbClr val="69737D"/>
                </a:solidFill>
              </a:rPr>
              <a:t>243 candidates had no qualifying Progress Note in the window</a:t>
            </a:r>
            <a:endParaRPr lang="en-US" sz="1250" dirty="0"/>
          </a:p>
        </p:txBody>
      </p:sp>
      <p:sp>
        <p:nvSpPr>
          <p:cNvPr id="11" name="Text 9"/>
          <p:cNvSpPr/>
          <p:nvPr/>
        </p:nvSpPr>
        <p:spPr>
          <a:xfrm>
            <a:off x="1188720" y="4407408"/>
            <a:ext cx="4114800" cy="182880"/>
          </a:xfrm>
          <a:prstGeom prst="rect">
            <a:avLst/>
          </a:prstGeom>
          <a:noFill/>
          <a:ln/>
        </p:spPr>
        <p:txBody>
          <a:bodyPr wrap="square" lIns="0" tIns="0" rIns="0" bIns="0" rtlCol="0" anchor="ctr"/>
          <a:lstStyle/>
          <a:p>
            <a:pPr marL="0" indent="0">
              <a:buNone/>
            </a:pPr>
            <a:r>
              <a:rPr lang="en-US" sz="1300" b="1" dirty="0">
                <a:solidFill>
                  <a:srgbClr val="19324D"/>
                </a:solidFill>
              </a:rPr>
              <a:t>Patients included in notes-based analysis</a:t>
            </a:r>
            <a:endParaRPr lang="en-US" sz="1300" dirty="0"/>
          </a:p>
        </p:txBody>
      </p:sp>
      <p:sp>
        <p:nvSpPr>
          <p:cNvPr id="12" name="Shape 10"/>
          <p:cNvSpPr/>
          <p:nvPr/>
        </p:nvSpPr>
        <p:spPr>
          <a:xfrm>
            <a:off x="1188720" y="4736592"/>
            <a:ext cx="5633796" cy="384048"/>
          </a:xfrm>
          <a:prstGeom prst="rect">
            <a:avLst/>
          </a:prstGeom>
          <a:solidFill>
            <a:srgbClr val="2F7D7E"/>
          </a:solidFill>
          <a:ln w="12700">
            <a:solidFill>
              <a:srgbClr val="333333">
                <a:alpha val="0"/>
              </a:srgbClr>
            </a:solidFill>
            <a:prstDash val="solid"/>
          </a:ln>
        </p:spPr>
        <p:txBody>
          <a:bodyPr/>
          <a:lstStyle/>
          <a:p>
            <a:endParaRPr lang="en-US"/>
          </a:p>
        </p:txBody>
      </p:sp>
      <p:sp>
        <p:nvSpPr>
          <p:cNvPr id="13" name="Shape 11"/>
          <p:cNvSpPr/>
          <p:nvPr/>
        </p:nvSpPr>
        <p:spPr>
          <a:xfrm>
            <a:off x="6822516" y="4736592"/>
            <a:ext cx="3144444" cy="384048"/>
          </a:xfrm>
          <a:prstGeom prst="rect">
            <a:avLst/>
          </a:prstGeom>
          <a:solidFill>
            <a:srgbClr val="C96A55"/>
          </a:solidFill>
          <a:ln w="12700">
            <a:solidFill>
              <a:srgbClr val="333333">
                <a:alpha val="0"/>
              </a:srgbClr>
            </a:solidFill>
            <a:prstDash val="solid"/>
          </a:ln>
        </p:spPr>
        <p:txBody>
          <a:bodyPr/>
          <a:lstStyle/>
          <a:p>
            <a:endParaRPr lang="en-US"/>
          </a:p>
        </p:txBody>
      </p:sp>
      <p:sp>
        <p:nvSpPr>
          <p:cNvPr id="14" name="Text 12"/>
          <p:cNvSpPr/>
          <p:nvPr/>
        </p:nvSpPr>
        <p:spPr>
          <a:xfrm>
            <a:off x="1188720" y="5358384"/>
            <a:ext cx="1828800" cy="164592"/>
          </a:xfrm>
          <a:prstGeom prst="rect">
            <a:avLst/>
          </a:prstGeom>
          <a:noFill/>
          <a:ln/>
        </p:spPr>
        <p:txBody>
          <a:bodyPr wrap="square" lIns="0" tIns="0" rIns="0" bIns="0" rtlCol="0" anchor="ctr"/>
          <a:lstStyle/>
          <a:p>
            <a:pPr marL="0" indent="0">
              <a:buNone/>
            </a:pPr>
            <a:r>
              <a:rPr lang="en-US" sz="1150" b="1" dirty="0">
                <a:solidFill>
                  <a:srgbClr val="2F7D7E"/>
                </a:solidFill>
              </a:rPr>
              <a:t>Treatment: 172</a:t>
            </a:r>
            <a:endParaRPr lang="en-US" sz="1150" dirty="0"/>
          </a:p>
        </p:txBody>
      </p:sp>
      <p:sp>
        <p:nvSpPr>
          <p:cNvPr id="15" name="Text 13"/>
          <p:cNvSpPr/>
          <p:nvPr/>
        </p:nvSpPr>
        <p:spPr>
          <a:xfrm>
            <a:off x="6720840" y="5358384"/>
            <a:ext cx="1554480" cy="164592"/>
          </a:xfrm>
          <a:prstGeom prst="rect">
            <a:avLst/>
          </a:prstGeom>
          <a:noFill/>
          <a:ln/>
        </p:spPr>
        <p:txBody>
          <a:bodyPr wrap="square" lIns="0" tIns="0" rIns="0" bIns="0" rtlCol="0" anchor="ctr"/>
          <a:lstStyle/>
          <a:p>
            <a:pPr marL="0" indent="0">
              <a:buNone/>
            </a:pPr>
            <a:r>
              <a:rPr lang="en-US" sz="1150" b="1" dirty="0">
                <a:solidFill>
                  <a:srgbClr val="C96A55"/>
                </a:solidFill>
              </a:rPr>
              <a:t>Baseline: 96</a:t>
            </a:r>
            <a:endParaRPr lang="en-US" sz="1150" dirty="0"/>
          </a:p>
        </p:txBody>
      </p:sp>
      <p:sp>
        <p:nvSpPr>
          <p:cNvPr id="25" name="Slide Number Placeholder 0"/>
          <p:cNvSpPr>
            <a:spLocks noGrp="1"/>
          </p:cNvSpPr>
          <p:nvPr>
            <p:ph type="sldNum" sz="quarter" idx="4294967295"/>
          </p:nvPr>
        </p:nvSpPr>
        <p:spPr>
          <a:xfrm>
            <a:off x="11384280" y="661111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FFFFFF"/>
                </a:solidFill>
              </a:defRPr>
            </a:lvl1pPr>
          </a:lstStyle>
          <a:p>
            <a:pPr algn="l"/>
            <a:fld id="{F7021451-1387-4CA6-816F-3879F97B5CBC}" type="slidenum">
              <a:rPr lang="en-US" b="0"/>
              <a:t>3</a:t>
            </a:fld>
            <a:endParaRPr lang="en-US"/>
          </a:p>
        </p:txBody>
      </p:sp>
      <p:pic>
        <p:nvPicPr>
          <p:cNvPr id="17" name="Audio 16">
            <a:extLst>
              <a:ext uri="{FF2B5EF4-FFF2-40B4-BE49-F238E27FC236}">
                <a16:creationId xmlns:a16="http://schemas.microsoft.com/office/drawing/2014/main" id="{40DF231D-8384-53C8-12F8-5E5D5E857A0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970"/>
    </mc:Choice>
    <mc:Fallback>
      <p:transition spd="slow" advTm="28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02920" y="292608"/>
            <a:ext cx="11064240" cy="411480"/>
          </a:xfrm>
          <a:prstGeom prst="rect">
            <a:avLst/>
          </a:prstGeom>
          <a:noFill/>
          <a:ln/>
        </p:spPr>
        <p:txBody>
          <a:bodyPr wrap="square" lIns="0" tIns="0" rIns="0" bIns="0" rtlCol="0" anchor="ctr"/>
          <a:lstStyle/>
          <a:p>
            <a:pPr marL="0" indent="0">
              <a:buNone/>
            </a:pPr>
            <a:r>
              <a:rPr lang="en-US" sz="2700" b="1" dirty="0">
                <a:solidFill>
                  <a:srgbClr val="19324D"/>
                </a:solidFill>
                <a:latin typeface="Aptos Display" pitchFamily="34" charset="0"/>
                <a:ea typeface="Aptos Display" pitchFamily="34" charset="-122"/>
                <a:cs typeface="Aptos Display" pitchFamily="34" charset="-120"/>
              </a:rPr>
              <a:t>Two extraction strategies read the same 771 notes</a:t>
            </a:r>
            <a:endParaRPr lang="en-US" sz="2700" dirty="0"/>
          </a:p>
        </p:txBody>
      </p:sp>
      <p:sp>
        <p:nvSpPr>
          <p:cNvPr id="3" name="Text 1"/>
          <p:cNvSpPr/>
          <p:nvPr/>
        </p:nvSpPr>
        <p:spPr>
          <a:xfrm>
            <a:off x="530352" y="777240"/>
            <a:ext cx="10789920" cy="201168"/>
          </a:xfrm>
          <a:prstGeom prst="rect">
            <a:avLst/>
          </a:prstGeom>
          <a:noFill/>
          <a:ln/>
        </p:spPr>
        <p:txBody>
          <a:bodyPr wrap="square" lIns="0" tIns="0" rIns="0" bIns="0" rtlCol="0" anchor="ctr"/>
          <a:lstStyle/>
          <a:p>
            <a:pPr marL="0" indent="0">
              <a:buNone/>
            </a:pPr>
            <a:r>
              <a:rPr lang="en-US" sz="1150" dirty="0">
                <a:solidFill>
                  <a:srgbClr val="69737D"/>
                </a:solidFill>
              </a:rPr>
              <a:t>Concepts: diverticulitis diagnosis and amoxicillin-clavulanate drug mention</a:t>
            </a:r>
            <a:endParaRPr lang="en-US" sz="1150" dirty="0"/>
          </a:p>
        </p:txBody>
      </p:sp>
      <p:sp>
        <p:nvSpPr>
          <p:cNvPr id="4" name="Text 2"/>
          <p:cNvSpPr/>
          <p:nvPr/>
        </p:nvSpPr>
        <p:spPr>
          <a:xfrm>
            <a:off x="868680" y="1554480"/>
            <a:ext cx="4526280" cy="3429000"/>
          </a:xfrm>
          <a:prstGeom prst="rect">
            <a:avLst/>
          </a:prstGeom>
          <a:solidFill>
            <a:srgbClr val="FFFDF8"/>
          </a:solidFill>
          <a:ln w="12700">
            <a:solidFill>
              <a:srgbClr val="D7D3C8"/>
            </a:solidFill>
          </a:ln>
        </p:spPr>
        <p:txBody>
          <a:bodyPr wrap="square" lIns="1016" tIns="1016" rIns="1016" bIns="1016" rtlCol="0" anchor="ctr">
            <a:normAutofit/>
          </a:bodyPr>
          <a:lstStyle/>
          <a:p>
            <a:pPr marL="0" indent="0" algn="l">
              <a:buNone/>
            </a:pPr>
            <a:r>
              <a:rPr lang="en-US" sz="1500" dirty="0">
                <a:solidFill>
                  <a:srgbClr val="18212B"/>
                </a:solidFill>
              </a:rPr>
              <a:t>TEXT / PATTERN MATCHING</a:t>
            </a:r>
            <a:endParaRPr lang="en-US" sz="1500" dirty="0"/>
          </a:p>
          <a:p>
            <a:pPr marL="0" indent="0" algn="l">
              <a:buNone/>
            </a:pPr>
            <a:endParaRPr lang="en-US" sz="1500" dirty="0"/>
          </a:p>
          <a:p>
            <a:pPr marL="0" indent="0" algn="l">
              <a:buNone/>
            </a:pPr>
            <a:r>
              <a:rPr lang="en-US" sz="1500" dirty="0">
                <a:solidFill>
                  <a:srgbClr val="18212B"/>
                </a:solidFill>
              </a:rPr>
              <a:t>Regex terms:</a:t>
            </a:r>
            <a:endParaRPr lang="en-US" sz="1500" dirty="0"/>
          </a:p>
          <a:p>
            <a:pPr marL="0" indent="0" algn="l">
              <a:buNone/>
            </a:pPr>
            <a:r>
              <a:rPr lang="en-US" sz="1500" dirty="0">
                <a:solidFill>
                  <a:srgbClr val="18212B"/>
                </a:solidFill>
              </a:rPr>
              <a:t>“diverticulit”</a:t>
            </a:r>
            <a:endParaRPr lang="en-US" sz="1500" dirty="0"/>
          </a:p>
          <a:p>
            <a:pPr marL="0" indent="0" algn="l">
              <a:buNone/>
            </a:pPr>
            <a:r>
              <a:rPr lang="en-US" sz="1500" dirty="0">
                <a:solidFill>
                  <a:srgbClr val="18212B"/>
                </a:solidFill>
              </a:rPr>
              <a:t>“amoxicillin” / “clavulanate” / “Augmentin”</a:t>
            </a:r>
            <a:endParaRPr lang="en-US" sz="1500" dirty="0"/>
          </a:p>
          <a:p>
            <a:pPr marL="0" indent="0" algn="l">
              <a:buNone/>
            </a:pPr>
            <a:endParaRPr lang="en-US" sz="1500" dirty="0"/>
          </a:p>
          <a:p>
            <a:pPr marL="0" indent="0" algn="l">
              <a:buNone/>
            </a:pPr>
            <a:r>
              <a:rPr lang="en-US" sz="1500" dirty="0">
                <a:solidFill>
                  <a:srgbClr val="18212B"/>
                </a:solidFill>
              </a:rPr>
              <a:t>Fast and reproducible; weak on context and negation.</a:t>
            </a:r>
            <a:endParaRPr lang="en-US" sz="1500" dirty="0"/>
          </a:p>
        </p:txBody>
      </p:sp>
      <p:sp>
        <p:nvSpPr>
          <p:cNvPr id="5" name="Shape 3"/>
          <p:cNvSpPr/>
          <p:nvPr/>
        </p:nvSpPr>
        <p:spPr>
          <a:xfrm>
            <a:off x="5596128" y="3273552"/>
            <a:ext cx="850392" cy="0"/>
          </a:xfrm>
          <a:prstGeom prst="line">
            <a:avLst/>
          </a:prstGeom>
          <a:noFill/>
          <a:ln w="17780">
            <a:solidFill>
              <a:srgbClr val="19324D"/>
            </a:solidFill>
            <a:prstDash val="solid"/>
            <a:tailEnd type="triangle"/>
          </a:ln>
        </p:spPr>
        <p:txBody>
          <a:bodyPr/>
          <a:lstStyle/>
          <a:p>
            <a:endParaRPr lang="en-US"/>
          </a:p>
        </p:txBody>
      </p:sp>
      <p:sp>
        <p:nvSpPr>
          <p:cNvPr id="6" name="Text 4"/>
          <p:cNvSpPr/>
          <p:nvPr/>
        </p:nvSpPr>
        <p:spPr>
          <a:xfrm>
            <a:off x="5440680" y="3493008"/>
            <a:ext cx="1143000" cy="146304"/>
          </a:xfrm>
          <a:prstGeom prst="rect">
            <a:avLst/>
          </a:prstGeom>
          <a:noFill/>
          <a:ln/>
        </p:spPr>
        <p:txBody>
          <a:bodyPr wrap="square" lIns="0" tIns="0" rIns="0" bIns="0" rtlCol="0" anchor="ctr"/>
          <a:lstStyle/>
          <a:p>
            <a:pPr marL="0" indent="0" algn="ctr">
              <a:buNone/>
            </a:pPr>
            <a:r>
              <a:rPr lang="en-US" sz="1050" dirty="0">
                <a:solidFill>
                  <a:srgbClr val="69737D"/>
                </a:solidFill>
              </a:rPr>
              <a:t>same notes</a:t>
            </a:r>
            <a:endParaRPr lang="en-US" sz="1050" dirty="0"/>
          </a:p>
        </p:txBody>
      </p:sp>
      <p:sp>
        <p:nvSpPr>
          <p:cNvPr id="7" name="Text 5"/>
          <p:cNvSpPr/>
          <p:nvPr/>
        </p:nvSpPr>
        <p:spPr>
          <a:xfrm>
            <a:off x="6629400" y="1554480"/>
            <a:ext cx="4526280" cy="3429000"/>
          </a:xfrm>
          <a:prstGeom prst="rect">
            <a:avLst/>
          </a:prstGeom>
          <a:solidFill>
            <a:srgbClr val="E9F4F2"/>
          </a:solidFill>
          <a:ln w="12700">
            <a:solidFill>
              <a:srgbClr val="2F7D7E"/>
            </a:solidFill>
          </a:ln>
        </p:spPr>
        <p:txBody>
          <a:bodyPr wrap="square" lIns="1016" tIns="1016" rIns="1016" bIns="1016" rtlCol="0" anchor="ctr">
            <a:normAutofit/>
          </a:bodyPr>
          <a:lstStyle/>
          <a:p>
            <a:pPr marL="0" indent="0" algn="l">
              <a:buNone/>
            </a:pPr>
            <a:r>
              <a:rPr lang="en-US" sz="1500" dirty="0">
                <a:solidFill>
                  <a:srgbClr val="18212B"/>
                </a:solidFill>
              </a:rPr>
              <a:t>LLM INFERENCE</a:t>
            </a:r>
            <a:endParaRPr lang="en-US" sz="1500" dirty="0"/>
          </a:p>
          <a:p>
            <a:pPr marL="0" indent="0" algn="l">
              <a:buNone/>
            </a:pPr>
            <a:endParaRPr lang="en-US" sz="1500" dirty="0"/>
          </a:p>
          <a:p>
            <a:pPr marL="0" indent="0" algn="l">
              <a:buNone/>
            </a:pPr>
            <a:r>
              <a:rPr lang="en-US" sz="1500" dirty="0">
                <a:solidFill>
                  <a:srgbClr val="18212B"/>
                </a:solidFill>
              </a:rPr>
              <a:t>3 binary classifiers:</a:t>
            </a:r>
            <a:endParaRPr lang="en-US" sz="1500" dirty="0"/>
          </a:p>
          <a:p>
            <a:pPr marL="0" indent="0" algn="l">
              <a:buNone/>
            </a:pPr>
            <a:r>
              <a:rPr lang="en-US" sz="1500" dirty="0">
                <a:solidFill>
                  <a:srgbClr val="18212B"/>
                </a:solidFill>
              </a:rPr>
              <a:t>Qwen2.5-7B-Instruct</a:t>
            </a:r>
            <a:endParaRPr lang="en-US" sz="1500" dirty="0"/>
          </a:p>
          <a:p>
            <a:pPr marL="0" indent="0" algn="l">
              <a:buNone/>
            </a:pPr>
            <a:r>
              <a:rPr lang="en-US" sz="1500" dirty="0">
                <a:solidFill>
                  <a:srgbClr val="18212B"/>
                </a:solidFill>
              </a:rPr>
              <a:t>Llama-3-OpenBioLLM-8B</a:t>
            </a:r>
            <a:endParaRPr lang="en-US" sz="1500" dirty="0"/>
          </a:p>
          <a:p>
            <a:pPr marL="0" indent="0" algn="l">
              <a:buNone/>
            </a:pPr>
            <a:r>
              <a:rPr lang="en-US" sz="1500" dirty="0">
                <a:solidFill>
                  <a:srgbClr val="18212B"/>
                </a:solidFill>
              </a:rPr>
              <a:t>Mistral-7B-Instruct</a:t>
            </a:r>
            <a:endParaRPr lang="en-US" sz="1500" dirty="0"/>
          </a:p>
          <a:p>
            <a:pPr marL="0" indent="0" algn="l">
              <a:buNone/>
            </a:pPr>
            <a:endParaRPr lang="en-US" sz="1500" dirty="0"/>
          </a:p>
          <a:p>
            <a:pPr marL="0" indent="0" algn="l">
              <a:buNone/>
            </a:pPr>
            <a:r>
              <a:rPr lang="en-US" sz="1500" dirty="0">
                <a:solidFill>
                  <a:srgbClr val="18212B"/>
                </a:solidFill>
              </a:rPr>
              <a:t>Structured decoding forced strict YES/NO outputs.</a:t>
            </a:r>
            <a:endParaRPr lang="en-US" sz="1500" dirty="0"/>
          </a:p>
        </p:txBody>
      </p:sp>
      <p:sp>
        <p:nvSpPr>
          <p:cNvPr id="25" name="Slide Number Placeholder 0"/>
          <p:cNvSpPr>
            <a:spLocks noGrp="1"/>
          </p:cNvSpPr>
          <p:nvPr>
            <p:ph type="sldNum" sz="quarter" idx="4294967295"/>
          </p:nvPr>
        </p:nvSpPr>
        <p:spPr>
          <a:xfrm>
            <a:off x="11384280" y="661111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FFFFFF"/>
                </a:solidFill>
              </a:defRPr>
            </a:lvl1pPr>
          </a:lstStyle>
          <a:p>
            <a:pPr algn="l"/>
            <a:fld id="{F7021451-1387-4CA6-816F-3879F97B5CBC}" type="slidenum">
              <a:rPr lang="en-US" b="0"/>
              <a:t>4</a:t>
            </a:fld>
            <a:endParaRPr lang="en-US"/>
          </a:p>
        </p:txBody>
      </p:sp>
      <p:pic>
        <p:nvPicPr>
          <p:cNvPr id="9" name="Audio 8">
            <a:extLst>
              <a:ext uri="{FF2B5EF4-FFF2-40B4-BE49-F238E27FC236}">
                <a16:creationId xmlns:a16="http://schemas.microsoft.com/office/drawing/2014/main" id="{3A01C91F-7AAC-3CCC-A3EB-1507F888523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09"/>
    </mc:Choice>
    <mc:Fallback>
      <p:transition spd="slow" advTm="363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02920" y="292608"/>
            <a:ext cx="11064240" cy="411480"/>
          </a:xfrm>
          <a:prstGeom prst="rect">
            <a:avLst/>
          </a:prstGeom>
          <a:noFill/>
          <a:ln/>
        </p:spPr>
        <p:txBody>
          <a:bodyPr wrap="square" lIns="0" tIns="0" rIns="0" bIns="0" rtlCol="0" anchor="ctr"/>
          <a:lstStyle/>
          <a:p>
            <a:pPr marL="0" indent="0">
              <a:buNone/>
            </a:pPr>
            <a:r>
              <a:rPr lang="en-US" sz="2700" b="1" dirty="0">
                <a:solidFill>
                  <a:srgbClr val="19324D"/>
                </a:solidFill>
                <a:latin typeface="Aptos Display" pitchFamily="34" charset="0"/>
                <a:ea typeface="Aptos Display" pitchFamily="34" charset="-122"/>
                <a:cs typeface="Aptos Display" pitchFamily="34" charset="-120"/>
              </a:rPr>
              <a:t>Drug detection varied sharply by method</a:t>
            </a:r>
            <a:endParaRPr lang="en-US" sz="2700" dirty="0"/>
          </a:p>
        </p:txBody>
      </p:sp>
      <p:sp>
        <p:nvSpPr>
          <p:cNvPr id="3" name="Text 1"/>
          <p:cNvSpPr/>
          <p:nvPr/>
        </p:nvSpPr>
        <p:spPr>
          <a:xfrm>
            <a:off x="530352" y="777240"/>
            <a:ext cx="10789920" cy="201168"/>
          </a:xfrm>
          <a:prstGeom prst="rect">
            <a:avLst/>
          </a:prstGeom>
          <a:noFill/>
          <a:ln/>
        </p:spPr>
        <p:txBody>
          <a:bodyPr wrap="square" lIns="0" tIns="0" rIns="0" bIns="0" rtlCol="0" anchor="ctr"/>
          <a:lstStyle/>
          <a:p>
            <a:pPr marL="0" indent="0">
              <a:buNone/>
            </a:pPr>
            <a:r>
              <a:rPr lang="en-US" sz="1150" dirty="0">
                <a:solidFill>
                  <a:srgbClr val="69737D"/>
                </a:solidFill>
              </a:rPr>
              <a:t>Compared against structured cohort assignment: baseline should be NO drug; treatment should be YES drug</a:t>
            </a:r>
            <a:endParaRPr lang="en-US" sz="1150" dirty="0"/>
          </a:p>
        </p:txBody>
      </p:sp>
      <p:sp>
        <p:nvSpPr>
          <p:cNvPr id="4" name="Shape 2"/>
          <p:cNvSpPr/>
          <p:nvPr/>
        </p:nvSpPr>
        <p:spPr>
          <a:xfrm>
            <a:off x="1051560" y="5321808"/>
            <a:ext cx="9646920" cy="0"/>
          </a:xfrm>
          <a:prstGeom prst="line">
            <a:avLst/>
          </a:prstGeom>
          <a:noFill/>
          <a:ln w="5080">
            <a:solidFill>
              <a:srgbClr val="D7D3C8">
                <a:alpha val="65000"/>
              </a:srgbClr>
            </a:solidFill>
            <a:prstDash val="solid"/>
          </a:ln>
        </p:spPr>
        <p:txBody>
          <a:bodyPr/>
          <a:lstStyle/>
          <a:p>
            <a:endParaRPr lang="en-US"/>
          </a:p>
        </p:txBody>
      </p:sp>
      <p:sp>
        <p:nvSpPr>
          <p:cNvPr id="5" name="Text 3"/>
          <p:cNvSpPr/>
          <p:nvPr/>
        </p:nvSpPr>
        <p:spPr>
          <a:xfrm>
            <a:off x="502920" y="5248656"/>
            <a:ext cx="347472" cy="146304"/>
          </a:xfrm>
          <a:prstGeom prst="rect">
            <a:avLst/>
          </a:prstGeom>
          <a:noFill/>
          <a:ln/>
        </p:spPr>
        <p:txBody>
          <a:bodyPr wrap="square" lIns="0" tIns="0" rIns="0" bIns="0" rtlCol="0" anchor="ctr"/>
          <a:lstStyle/>
          <a:p>
            <a:pPr marL="0" indent="0" algn="r">
              <a:buNone/>
            </a:pPr>
            <a:r>
              <a:rPr lang="en-US" sz="850" dirty="0">
                <a:solidFill>
                  <a:srgbClr val="69737D"/>
                </a:solidFill>
              </a:rPr>
              <a:t>0</a:t>
            </a:r>
            <a:endParaRPr lang="en-US" sz="850" dirty="0"/>
          </a:p>
        </p:txBody>
      </p:sp>
      <p:sp>
        <p:nvSpPr>
          <p:cNvPr id="6" name="Shape 4"/>
          <p:cNvSpPr/>
          <p:nvPr/>
        </p:nvSpPr>
        <p:spPr>
          <a:xfrm>
            <a:off x="1051560" y="4555998"/>
            <a:ext cx="9646920" cy="0"/>
          </a:xfrm>
          <a:prstGeom prst="line">
            <a:avLst/>
          </a:prstGeom>
          <a:noFill/>
          <a:ln w="5080">
            <a:solidFill>
              <a:srgbClr val="D7D3C8">
                <a:alpha val="65000"/>
              </a:srgbClr>
            </a:solidFill>
            <a:prstDash val="solid"/>
          </a:ln>
        </p:spPr>
        <p:txBody>
          <a:bodyPr/>
          <a:lstStyle/>
          <a:p>
            <a:endParaRPr lang="en-US"/>
          </a:p>
        </p:txBody>
      </p:sp>
      <p:sp>
        <p:nvSpPr>
          <p:cNvPr id="7" name="Text 5"/>
          <p:cNvSpPr/>
          <p:nvPr/>
        </p:nvSpPr>
        <p:spPr>
          <a:xfrm>
            <a:off x="502920" y="4482846"/>
            <a:ext cx="347472" cy="146304"/>
          </a:xfrm>
          <a:prstGeom prst="rect">
            <a:avLst/>
          </a:prstGeom>
          <a:noFill/>
          <a:ln/>
        </p:spPr>
        <p:txBody>
          <a:bodyPr wrap="square" lIns="0" tIns="0" rIns="0" bIns="0" rtlCol="0" anchor="ctr"/>
          <a:lstStyle/>
          <a:p>
            <a:pPr marL="0" indent="0" algn="r">
              <a:buNone/>
            </a:pPr>
            <a:r>
              <a:rPr lang="en-US" sz="850" dirty="0">
                <a:solidFill>
                  <a:srgbClr val="69737D"/>
                </a:solidFill>
              </a:rPr>
              <a:t>24</a:t>
            </a:r>
            <a:endParaRPr lang="en-US" sz="850" dirty="0"/>
          </a:p>
        </p:txBody>
      </p:sp>
      <p:sp>
        <p:nvSpPr>
          <p:cNvPr id="8" name="Shape 6"/>
          <p:cNvSpPr/>
          <p:nvPr/>
        </p:nvSpPr>
        <p:spPr>
          <a:xfrm>
            <a:off x="1051560" y="3790188"/>
            <a:ext cx="9646920" cy="0"/>
          </a:xfrm>
          <a:prstGeom prst="line">
            <a:avLst/>
          </a:prstGeom>
          <a:noFill/>
          <a:ln w="5080">
            <a:solidFill>
              <a:srgbClr val="D7D3C8">
                <a:alpha val="65000"/>
              </a:srgbClr>
            </a:solidFill>
            <a:prstDash val="solid"/>
          </a:ln>
        </p:spPr>
        <p:txBody>
          <a:bodyPr/>
          <a:lstStyle/>
          <a:p>
            <a:endParaRPr lang="en-US"/>
          </a:p>
        </p:txBody>
      </p:sp>
      <p:sp>
        <p:nvSpPr>
          <p:cNvPr id="9" name="Text 7"/>
          <p:cNvSpPr/>
          <p:nvPr/>
        </p:nvSpPr>
        <p:spPr>
          <a:xfrm>
            <a:off x="502920" y="3717036"/>
            <a:ext cx="347472" cy="146304"/>
          </a:xfrm>
          <a:prstGeom prst="rect">
            <a:avLst/>
          </a:prstGeom>
          <a:noFill/>
          <a:ln/>
        </p:spPr>
        <p:txBody>
          <a:bodyPr wrap="square" lIns="0" tIns="0" rIns="0" bIns="0" rtlCol="0" anchor="ctr"/>
          <a:lstStyle/>
          <a:p>
            <a:pPr marL="0" indent="0" algn="r">
              <a:buNone/>
            </a:pPr>
            <a:r>
              <a:rPr lang="en-US" sz="850" dirty="0">
                <a:solidFill>
                  <a:srgbClr val="69737D"/>
                </a:solidFill>
              </a:rPr>
              <a:t>48</a:t>
            </a:r>
            <a:endParaRPr lang="en-US" sz="850" dirty="0"/>
          </a:p>
        </p:txBody>
      </p:sp>
      <p:sp>
        <p:nvSpPr>
          <p:cNvPr id="10" name="Shape 8"/>
          <p:cNvSpPr/>
          <p:nvPr/>
        </p:nvSpPr>
        <p:spPr>
          <a:xfrm>
            <a:off x="1051560" y="3024378"/>
            <a:ext cx="9646920" cy="0"/>
          </a:xfrm>
          <a:prstGeom prst="line">
            <a:avLst/>
          </a:prstGeom>
          <a:noFill/>
          <a:ln w="5080">
            <a:solidFill>
              <a:srgbClr val="D7D3C8">
                <a:alpha val="65000"/>
              </a:srgbClr>
            </a:solidFill>
            <a:prstDash val="solid"/>
          </a:ln>
        </p:spPr>
        <p:txBody>
          <a:bodyPr/>
          <a:lstStyle/>
          <a:p>
            <a:endParaRPr lang="en-US"/>
          </a:p>
        </p:txBody>
      </p:sp>
      <p:sp>
        <p:nvSpPr>
          <p:cNvPr id="11" name="Text 9"/>
          <p:cNvSpPr/>
          <p:nvPr/>
        </p:nvSpPr>
        <p:spPr>
          <a:xfrm>
            <a:off x="502920" y="2951226"/>
            <a:ext cx="347472" cy="146304"/>
          </a:xfrm>
          <a:prstGeom prst="rect">
            <a:avLst/>
          </a:prstGeom>
          <a:noFill/>
          <a:ln/>
        </p:spPr>
        <p:txBody>
          <a:bodyPr wrap="square" lIns="0" tIns="0" rIns="0" bIns="0" rtlCol="0" anchor="ctr"/>
          <a:lstStyle/>
          <a:p>
            <a:pPr marL="0" indent="0" algn="r">
              <a:buNone/>
            </a:pPr>
            <a:r>
              <a:rPr lang="en-US" sz="850" dirty="0">
                <a:solidFill>
                  <a:srgbClr val="69737D"/>
                </a:solidFill>
              </a:rPr>
              <a:t>72</a:t>
            </a:r>
            <a:endParaRPr lang="en-US" sz="850" dirty="0"/>
          </a:p>
        </p:txBody>
      </p:sp>
      <p:sp>
        <p:nvSpPr>
          <p:cNvPr id="12" name="Shape 10"/>
          <p:cNvSpPr/>
          <p:nvPr/>
        </p:nvSpPr>
        <p:spPr>
          <a:xfrm>
            <a:off x="1051560" y="2258568"/>
            <a:ext cx="9646920" cy="0"/>
          </a:xfrm>
          <a:prstGeom prst="line">
            <a:avLst/>
          </a:prstGeom>
          <a:noFill/>
          <a:ln w="5080">
            <a:solidFill>
              <a:srgbClr val="D7D3C8">
                <a:alpha val="65000"/>
              </a:srgbClr>
            </a:solidFill>
            <a:prstDash val="solid"/>
          </a:ln>
        </p:spPr>
        <p:txBody>
          <a:bodyPr/>
          <a:lstStyle/>
          <a:p>
            <a:endParaRPr lang="en-US"/>
          </a:p>
        </p:txBody>
      </p:sp>
      <p:sp>
        <p:nvSpPr>
          <p:cNvPr id="13" name="Text 11"/>
          <p:cNvSpPr/>
          <p:nvPr/>
        </p:nvSpPr>
        <p:spPr>
          <a:xfrm>
            <a:off x="502920" y="2185416"/>
            <a:ext cx="347472" cy="146304"/>
          </a:xfrm>
          <a:prstGeom prst="rect">
            <a:avLst/>
          </a:prstGeom>
          <a:noFill/>
          <a:ln/>
        </p:spPr>
        <p:txBody>
          <a:bodyPr wrap="square" lIns="0" tIns="0" rIns="0" bIns="0" rtlCol="0" anchor="ctr"/>
          <a:lstStyle/>
          <a:p>
            <a:pPr marL="0" indent="0" algn="r">
              <a:buNone/>
            </a:pPr>
            <a:r>
              <a:rPr lang="en-US" sz="850" dirty="0">
                <a:solidFill>
                  <a:srgbClr val="69737D"/>
                </a:solidFill>
              </a:rPr>
              <a:t>96</a:t>
            </a:r>
            <a:endParaRPr lang="en-US" sz="850" dirty="0"/>
          </a:p>
        </p:txBody>
      </p:sp>
      <p:sp>
        <p:nvSpPr>
          <p:cNvPr id="14" name="Shape 12"/>
          <p:cNvSpPr/>
          <p:nvPr/>
        </p:nvSpPr>
        <p:spPr>
          <a:xfrm>
            <a:off x="1051560" y="5321808"/>
            <a:ext cx="9646920" cy="0"/>
          </a:xfrm>
          <a:prstGeom prst="line">
            <a:avLst/>
          </a:prstGeom>
          <a:noFill/>
          <a:ln w="15240">
            <a:solidFill>
              <a:srgbClr val="D7D3C8"/>
            </a:solidFill>
            <a:prstDash val="solid"/>
          </a:ln>
        </p:spPr>
        <p:txBody>
          <a:bodyPr/>
          <a:lstStyle/>
          <a:p>
            <a:endParaRPr lang="en-US"/>
          </a:p>
        </p:txBody>
      </p:sp>
      <p:sp>
        <p:nvSpPr>
          <p:cNvPr id="15" name="Shape 13"/>
          <p:cNvSpPr/>
          <p:nvPr/>
        </p:nvSpPr>
        <p:spPr>
          <a:xfrm>
            <a:off x="1508760" y="5002721"/>
            <a:ext cx="310896" cy="319088"/>
          </a:xfrm>
          <a:prstGeom prst="rect">
            <a:avLst/>
          </a:prstGeom>
          <a:solidFill>
            <a:srgbClr val="C96A55"/>
          </a:solidFill>
          <a:ln w="12700">
            <a:solidFill>
              <a:srgbClr val="333333">
                <a:alpha val="0"/>
              </a:srgbClr>
            </a:solidFill>
            <a:prstDash val="solid"/>
          </a:ln>
        </p:spPr>
        <p:txBody>
          <a:bodyPr/>
          <a:lstStyle/>
          <a:p>
            <a:endParaRPr lang="en-US"/>
          </a:p>
        </p:txBody>
      </p:sp>
      <p:sp>
        <p:nvSpPr>
          <p:cNvPr id="16" name="Shape 14"/>
          <p:cNvSpPr/>
          <p:nvPr/>
        </p:nvSpPr>
        <p:spPr>
          <a:xfrm>
            <a:off x="1892808" y="3758279"/>
            <a:ext cx="310896" cy="1563529"/>
          </a:xfrm>
          <a:prstGeom prst="rect">
            <a:avLst/>
          </a:prstGeom>
          <a:solidFill>
            <a:srgbClr val="2F7D7E"/>
          </a:solidFill>
          <a:ln w="12700">
            <a:solidFill>
              <a:srgbClr val="333333">
                <a:alpha val="0"/>
              </a:srgbClr>
            </a:solidFill>
            <a:prstDash val="solid"/>
          </a:ln>
        </p:spPr>
        <p:txBody>
          <a:bodyPr/>
          <a:lstStyle/>
          <a:p>
            <a:endParaRPr lang="en-US"/>
          </a:p>
        </p:txBody>
      </p:sp>
      <p:sp>
        <p:nvSpPr>
          <p:cNvPr id="17" name="Text 15"/>
          <p:cNvSpPr/>
          <p:nvPr/>
        </p:nvSpPr>
        <p:spPr>
          <a:xfrm>
            <a:off x="1463040" y="4783265"/>
            <a:ext cx="402336" cy="137160"/>
          </a:xfrm>
          <a:prstGeom prst="rect">
            <a:avLst/>
          </a:prstGeom>
          <a:noFill/>
          <a:ln/>
        </p:spPr>
        <p:txBody>
          <a:bodyPr wrap="square" lIns="0" tIns="0" rIns="0" bIns="0" rtlCol="0" anchor="ctr"/>
          <a:lstStyle/>
          <a:p>
            <a:pPr marL="0" indent="0" algn="ctr">
              <a:buNone/>
            </a:pPr>
            <a:r>
              <a:rPr lang="en-US" sz="1000" b="1" dirty="0">
                <a:solidFill>
                  <a:srgbClr val="C96A55"/>
                </a:solidFill>
              </a:rPr>
              <a:t>10</a:t>
            </a:r>
            <a:endParaRPr lang="en-US" sz="1000" dirty="0"/>
          </a:p>
        </p:txBody>
      </p:sp>
      <p:sp>
        <p:nvSpPr>
          <p:cNvPr id="18" name="Text 16"/>
          <p:cNvSpPr/>
          <p:nvPr/>
        </p:nvSpPr>
        <p:spPr>
          <a:xfrm>
            <a:off x="1856232" y="3538823"/>
            <a:ext cx="402336" cy="137160"/>
          </a:xfrm>
          <a:prstGeom prst="rect">
            <a:avLst/>
          </a:prstGeom>
          <a:noFill/>
          <a:ln/>
        </p:spPr>
        <p:txBody>
          <a:bodyPr wrap="square" lIns="0" tIns="0" rIns="0" bIns="0" rtlCol="0" anchor="ctr"/>
          <a:lstStyle/>
          <a:p>
            <a:pPr marL="0" indent="0" algn="ctr">
              <a:buNone/>
            </a:pPr>
            <a:r>
              <a:rPr lang="en-US" sz="1000" b="1" dirty="0">
                <a:solidFill>
                  <a:srgbClr val="2F7D7E"/>
                </a:solidFill>
              </a:rPr>
              <a:t>49</a:t>
            </a:r>
            <a:endParaRPr lang="en-US" sz="1000" dirty="0"/>
          </a:p>
        </p:txBody>
      </p:sp>
      <p:sp>
        <p:nvSpPr>
          <p:cNvPr id="19" name="Text 17"/>
          <p:cNvSpPr/>
          <p:nvPr/>
        </p:nvSpPr>
        <p:spPr>
          <a:xfrm>
            <a:off x="1280160" y="5504688"/>
            <a:ext cx="1152144" cy="365760"/>
          </a:xfrm>
          <a:prstGeom prst="rect">
            <a:avLst/>
          </a:prstGeom>
          <a:noFill/>
          <a:ln/>
        </p:spPr>
        <p:txBody>
          <a:bodyPr wrap="square" lIns="0" tIns="0" rIns="0" bIns="0" rtlCol="0" anchor="ctr">
            <a:normAutofit/>
          </a:bodyPr>
          <a:lstStyle/>
          <a:p>
            <a:pPr marL="0" indent="0" algn="ctr">
              <a:buNone/>
            </a:pPr>
            <a:r>
              <a:rPr lang="en-US" sz="1000" b="1" dirty="0">
                <a:solidFill>
                  <a:srgbClr val="18212B"/>
                </a:solidFill>
              </a:rPr>
              <a:t>Pattern</a:t>
            </a:r>
            <a:endParaRPr lang="en-US" sz="1000" dirty="0"/>
          </a:p>
          <a:p>
            <a:pPr marL="0" indent="0" algn="ctr">
              <a:buNone/>
            </a:pPr>
            <a:r>
              <a:rPr lang="en-US" sz="1000" b="1" dirty="0">
                <a:solidFill>
                  <a:srgbClr val="18212B"/>
                </a:solidFill>
              </a:rPr>
              <a:t>match</a:t>
            </a:r>
            <a:endParaRPr lang="en-US" sz="1000" dirty="0"/>
          </a:p>
        </p:txBody>
      </p:sp>
      <p:sp>
        <p:nvSpPr>
          <p:cNvPr id="20" name="Shape 18"/>
          <p:cNvSpPr/>
          <p:nvPr/>
        </p:nvSpPr>
        <p:spPr>
          <a:xfrm>
            <a:off x="3749040" y="2481929"/>
            <a:ext cx="310896" cy="2839879"/>
          </a:xfrm>
          <a:prstGeom prst="rect">
            <a:avLst/>
          </a:prstGeom>
          <a:solidFill>
            <a:srgbClr val="C96A55"/>
          </a:solidFill>
          <a:ln w="12700">
            <a:solidFill>
              <a:srgbClr val="333333">
                <a:alpha val="0"/>
              </a:srgbClr>
            </a:solidFill>
            <a:prstDash val="solid"/>
          </a:ln>
        </p:spPr>
        <p:txBody>
          <a:bodyPr/>
          <a:lstStyle/>
          <a:p>
            <a:endParaRPr lang="en-US"/>
          </a:p>
        </p:txBody>
      </p:sp>
      <p:sp>
        <p:nvSpPr>
          <p:cNvPr id="21" name="Shape 19"/>
          <p:cNvSpPr/>
          <p:nvPr/>
        </p:nvSpPr>
        <p:spPr>
          <a:xfrm>
            <a:off x="4133088" y="4875086"/>
            <a:ext cx="310896" cy="446723"/>
          </a:xfrm>
          <a:prstGeom prst="rect">
            <a:avLst/>
          </a:prstGeom>
          <a:solidFill>
            <a:srgbClr val="2F7D7E"/>
          </a:solidFill>
          <a:ln w="12700">
            <a:solidFill>
              <a:srgbClr val="333333">
                <a:alpha val="0"/>
              </a:srgbClr>
            </a:solidFill>
            <a:prstDash val="solid"/>
          </a:ln>
        </p:spPr>
        <p:txBody>
          <a:bodyPr/>
          <a:lstStyle/>
          <a:p>
            <a:endParaRPr lang="en-US"/>
          </a:p>
        </p:txBody>
      </p:sp>
      <p:sp>
        <p:nvSpPr>
          <p:cNvPr id="22" name="Text 20"/>
          <p:cNvSpPr/>
          <p:nvPr/>
        </p:nvSpPr>
        <p:spPr>
          <a:xfrm>
            <a:off x="3703320" y="2262473"/>
            <a:ext cx="402336" cy="137160"/>
          </a:xfrm>
          <a:prstGeom prst="rect">
            <a:avLst/>
          </a:prstGeom>
          <a:noFill/>
          <a:ln/>
        </p:spPr>
        <p:txBody>
          <a:bodyPr wrap="square" lIns="0" tIns="0" rIns="0" bIns="0" rtlCol="0" anchor="ctr"/>
          <a:lstStyle/>
          <a:p>
            <a:pPr marL="0" indent="0" algn="ctr">
              <a:buNone/>
            </a:pPr>
            <a:r>
              <a:rPr lang="en-US" sz="1000" b="1" dirty="0">
                <a:solidFill>
                  <a:srgbClr val="C96A55"/>
                </a:solidFill>
              </a:rPr>
              <a:t>89</a:t>
            </a:r>
            <a:endParaRPr lang="en-US" sz="1000" dirty="0"/>
          </a:p>
        </p:txBody>
      </p:sp>
      <p:sp>
        <p:nvSpPr>
          <p:cNvPr id="23" name="Text 21"/>
          <p:cNvSpPr/>
          <p:nvPr/>
        </p:nvSpPr>
        <p:spPr>
          <a:xfrm>
            <a:off x="4096512" y="4655630"/>
            <a:ext cx="402336" cy="137160"/>
          </a:xfrm>
          <a:prstGeom prst="rect">
            <a:avLst/>
          </a:prstGeom>
          <a:noFill/>
          <a:ln/>
        </p:spPr>
        <p:txBody>
          <a:bodyPr wrap="square" lIns="0" tIns="0" rIns="0" bIns="0" rtlCol="0" anchor="ctr"/>
          <a:lstStyle/>
          <a:p>
            <a:pPr marL="0" indent="0" algn="ctr">
              <a:buNone/>
            </a:pPr>
            <a:r>
              <a:rPr lang="en-US" sz="1000" b="1" dirty="0">
                <a:solidFill>
                  <a:srgbClr val="2F7D7E"/>
                </a:solidFill>
              </a:rPr>
              <a:t>14</a:t>
            </a:r>
            <a:endParaRPr lang="en-US" sz="1000" dirty="0"/>
          </a:p>
        </p:txBody>
      </p:sp>
      <p:sp>
        <p:nvSpPr>
          <p:cNvPr id="24" name="Text 22"/>
          <p:cNvSpPr/>
          <p:nvPr/>
        </p:nvSpPr>
        <p:spPr>
          <a:xfrm>
            <a:off x="3520440" y="5504688"/>
            <a:ext cx="1152144" cy="365760"/>
          </a:xfrm>
          <a:prstGeom prst="rect">
            <a:avLst/>
          </a:prstGeom>
          <a:noFill/>
          <a:ln/>
        </p:spPr>
        <p:txBody>
          <a:bodyPr wrap="square" lIns="0" tIns="0" rIns="0" bIns="0" rtlCol="0" anchor="ctr">
            <a:normAutofit/>
          </a:bodyPr>
          <a:lstStyle/>
          <a:p>
            <a:pPr marL="0" indent="0" algn="ctr">
              <a:buNone/>
            </a:pPr>
            <a:r>
              <a:rPr lang="en-US" sz="1000" b="1" dirty="0">
                <a:solidFill>
                  <a:srgbClr val="18212B"/>
                </a:solidFill>
              </a:rPr>
              <a:t>OpenBio</a:t>
            </a:r>
            <a:endParaRPr lang="en-US" sz="1000" dirty="0"/>
          </a:p>
          <a:p>
            <a:pPr marL="0" indent="0" algn="ctr">
              <a:buNone/>
            </a:pPr>
            <a:r>
              <a:rPr lang="en-US" sz="1000" b="1" dirty="0">
                <a:solidFill>
                  <a:srgbClr val="18212B"/>
                </a:solidFill>
              </a:rPr>
              <a:t>LLM</a:t>
            </a:r>
            <a:endParaRPr lang="en-US" sz="1000" dirty="0"/>
          </a:p>
        </p:txBody>
      </p:sp>
      <p:sp>
        <p:nvSpPr>
          <p:cNvPr id="25" name="Shape 23"/>
          <p:cNvSpPr/>
          <p:nvPr/>
        </p:nvSpPr>
        <p:spPr>
          <a:xfrm>
            <a:off x="5989320" y="5098447"/>
            <a:ext cx="310896" cy="223361"/>
          </a:xfrm>
          <a:prstGeom prst="rect">
            <a:avLst/>
          </a:prstGeom>
          <a:solidFill>
            <a:srgbClr val="C96A55"/>
          </a:solidFill>
          <a:ln w="12700">
            <a:solidFill>
              <a:srgbClr val="333333">
                <a:alpha val="0"/>
              </a:srgbClr>
            </a:solidFill>
            <a:prstDash val="solid"/>
          </a:ln>
        </p:spPr>
        <p:txBody>
          <a:bodyPr/>
          <a:lstStyle/>
          <a:p>
            <a:endParaRPr lang="en-US"/>
          </a:p>
        </p:txBody>
      </p:sp>
      <p:sp>
        <p:nvSpPr>
          <p:cNvPr id="26" name="Shape 24"/>
          <p:cNvSpPr/>
          <p:nvPr/>
        </p:nvSpPr>
        <p:spPr>
          <a:xfrm>
            <a:off x="6373368" y="2960561"/>
            <a:ext cx="310896" cy="2361248"/>
          </a:xfrm>
          <a:prstGeom prst="rect">
            <a:avLst/>
          </a:prstGeom>
          <a:solidFill>
            <a:srgbClr val="2F7D7E"/>
          </a:solidFill>
          <a:ln w="12700">
            <a:solidFill>
              <a:srgbClr val="333333">
                <a:alpha val="0"/>
              </a:srgbClr>
            </a:solidFill>
            <a:prstDash val="solid"/>
          </a:ln>
        </p:spPr>
        <p:txBody>
          <a:bodyPr/>
          <a:lstStyle/>
          <a:p>
            <a:endParaRPr lang="en-US"/>
          </a:p>
        </p:txBody>
      </p:sp>
      <p:sp>
        <p:nvSpPr>
          <p:cNvPr id="27" name="Text 25"/>
          <p:cNvSpPr/>
          <p:nvPr/>
        </p:nvSpPr>
        <p:spPr>
          <a:xfrm>
            <a:off x="5943600" y="4878991"/>
            <a:ext cx="402336" cy="137160"/>
          </a:xfrm>
          <a:prstGeom prst="rect">
            <a:avLst/>
          </a:prstGeom>
          <a:noFill/>
          <a:ln/>
        </p:spPr>
        <p:txBody>
          <a:bodyPr wrap="square" lIns="0" tIns="0" rIns="0" bIns="0" rtlCol="0" anchor="ctr"/>
          <a:lstStyle/>
          <a:p>
            <a:pPr marL="0" indent="0" algn="ctr">
              <a:buNone/>
            </a:pPr>
            <a:r>
              <a:rPr lang="en-US" sz="1000" b="1" dirty="0">
                <a:solidFill>
                  <a:srgbClr val="C96A55"/>
                </a:solidFill>
              </a:rPr>
              <a:t>7</a:t>
            </a:r>
            <a:endParaRPr lang="en-US" sz="1000" dirty="0"/>
          </a:p>
        </p:txBody>
      </p:sp>
      <p:sp>
        <p:nvSpPr>
          <p:cNvPr id="28" name="Text 26"/>
          <p:cNvSpPr/>
          <p:nvPr/>
        </p:nvSpPr>
        <p:spPr>
          <a:xfrm>
            <a:off x="6336792" y="2741105"/>
            <a:ext cx="402336" cy="137160"/>
          </a:xfrm>
          <a:prstGeom prst="rect">
            <a:avLst/>
          </a:prstGeom>
          <a:noFill/>
          <a:ln/>
        </p:spPr>
        <p:txBody>
          <a:bodyPr wrap="square" lIns="0" tIns="0" rIns="0" bIns="0" rtlCol="0" anchor="ctr"/>
          <a:lstStyle/>
          <a:p>
            <a:pPr marL="0" indent="0" algn="ctr">
              <a:buNone/>
            </a:pPr>
            <a:r>
              <a:rPr lang="en-US" sz="1000" b="1" dirty="0">
                <a:solidFill>
                  <a:srgbClr val="2F7D7E"/>
                </a:solidFill>
              </a:rPr>
              <a:t>74</a:t>
            </a:r>
            <a:endParaRPr lang="en-US" sz="1000" dirty="0"/>
          </a:p>
        </p:txBody>
      </p:sp>
      <p:sp>
        <p:nvSpPr>
          <p:cNvPr id="29" name="Text 27"/>
          <p:cNvSpPr/>
          <p:nvPr/>
        </p:nvSpPr>
        <p:spPr>
          <a:xfrm>
            <a:off x="5760720" y="5504688"/>
            <a:ext cx="1152144" cy="365760"/>
          </a:xfrm>
          <a:prstGeom prst="rect">
            <a:avLst/>
          </a:prstGeom>
          <a:noFill/>
          <a:ln/>
        </p:spPr>
        <p:txBody>
          <a:bodyPr wrap="square" lIns="0" tIns="0" rIns="0" bIns="0" rtlCol="0" anchor="ctr">
            <a:normAutofit/>
          </a:bodyPr>
          <a:lstStyle/>
          <a:p>
            <a:pPr marL="0" indent="0" algn="ctr">
              <a:buNone/>
            </a:pPr>
            <a:r>
              <a:rPr lang="en-US" sz="1000" b="1" dirty="0">
                <a:solidFill>
                  <a:srgbClr val="18212B"/>
                </a:solidFill>
              </a:rPr>
              <a:t>Qwen</a:t>
            </a:r>
            <a:endParaRPr lang="en-US" sz="1000" dirty="0"/>
          </a:p>
        </p:txBody>
      </p:sp>
      <p:sp>
        <p:nvSpPr>
          <p:cNvPr id="30" name="Shape 28"/>
          <p:cNvSpPr/>
          <p:nvPr/>
        </p:nvSpPr>
        <p:spPr>
          <a:xfrm>
            <a:off x="8229600" y="4141184"/>
            <a:ext cx="310896" cy="1180624"/>
          </a:xfrm>
          <a:prstGeom prst="rect">
            <a:avLst/>
          </a:prstGeom>
          <a:solidFill>
            <a:srgbClr val="C96A55"/>
          </a:solidFill>
          <a:ln w="12700">
            <a:solidFill>
              <a:srgbClr val="333333">
                <a:alpha val="0"/>
              </a:srgbClr>
            </a:solidFill>
            <a:prstDash val="solid"/>
          </a:ln>
        </p:spPr>
        <p:txBody>
          <a:bodyPr/>
          <a:lstStyle/>
          <a:p>
            <a:endParaRPr lang="en-US"/>
          </a:p>
        </p:txBody>
      </p:sp>
      <p:sp>
        <p:nvSpPr>
          <p:cNvPr id="31" name="Shape 29"/>
          <p:cNvSpPr/>
          <p:nvPr/>
        </p:nvSpPr>
        <p:spPr>
          <a:xfrm>
            <a:off x="8613648" y="3758279"/>
            <a:ext cx="310896" cy="1563529"/>
          </a:xfrm>
          <a:prstGeom prst="rect">
            <a:avLst/>
          </a:prstGeom>
          <a:solidFill>
            <a:srgbClr val="2F7D7E"/>
          </a:solidFill>
          <a:ln w="12700">
            <a:solidFill>
              <a:srgbClr val="333333">
                <a:alpha val="0"/>
              </a:srgbClr>
            </a:solidFill>
            <a:prstDash val="solid"/>
          </a:ln>
        </p:spPr>
        <p:txBody>
          <a:bodyPr/>
          <a:lstStyle/>
          <a:p>
            <a:endParaRPr lang="en-US"/>
          </a:p>
        </p:txBody>
      </p:sp>
      <p:sp>
        <p:nvSpPr>
          <p:cNvPr id="32" name="Text 30"/>
          <p:cNvSpPr/>
          <p:nvPr/>
        </p:nvSpPr>
        <p:spPr>
          <a:xfrm>
            <a:off x="8183880" y="3921728"/>
            <a:ext cx="402336" cy="137160"/>
          </a:xfrm>
          <a:prstGeom prst="rect">
            <a:avLst/>
          </a:prstGeom>
          <a:noFill/>
          <a:ln/>
        </p:spPr>
        <p:txBody>
          <a:bodyPr wrap="square" lIns="0" tIns="0" rIns="0" bIns="0" rtlCol="0" anchor="ctr"/>
          <a:lstStyle/>
          <a:p>
            <a:pPr marL="0" indent="0" algn="ctr">
              <a:buNone/>
            </a:pPr>
            <a:r>
              <a:rPr lang="en-US" sz="1000" b="1" dirty="0">
                <a:solidFill>
                  <a:srgbClr val="C96A55"/>
                </a:solidFill>
              </a:rPr>
              <a:t>37</a:t>
            </a:r>
            <a:endParaRPr lang="en-US" sz="1000" dirty="0"/>
          </a:p>
        </p:txBody>
      </p:sp>
      <p:sp>
        <p:nvSpPr>
          <p:cNvPr id="33" name="Text 31"/>
          <p:cNvSpPr/>
          <p:nvPr/>
        </p:nvSpPr>
        <p:spPr>
          <a:xfrm>
            <a:off x="8577072" y="3538823"/>
            <a:ext cx="402336" cy="137160"/>
          </a:xfrm>
          <a:prstGeom prst="rect">
            <a:avLst/>
          </a:prstGeom>
          <a:noFill/>
          <a:ln/>
        </p:spPr>
        <p:txBody>
          <a:bodyPr wrap="square" lIns="0" tIns="0" rIns="0" bIns="0" rtlCol="0" anchor="ctr"/>
          <a:lstStyle/>
          <a:p>
            <a:pPr marL="0" indent="0" algn="ctr">
              <a:buNone/>
            </a:pPr>
            <a:r>
              <a:rPr lang="en-US" sz="1000" b="1" dirty="0">
                <a:solidFill>
                  <a:srgbClr val="2F7D7E"/>
                </a:solidFill>
              </a:rPr>
              <a:t>49</a:t>
            </a:r>
            <a:endParaRPr lang="en-US" sz="1000" dirty="0"/>
          </a:p>
        </p:txBody>
      </p:sp>
      <p:sp>
        <p:nvSpPr>
          <p:cNvPr id="34" name="Text 32"/>
          <p:cNvSpPr/>
          <p:nvPr/>
        </p:nvSpPr>
        <p:spPr>
          <a:xfrm>
            <a:off x="8001000" y="5504688"/>
            <a:ext cx="1152144" cy="365760"/>
          </a:xfrm>
          <a:prstGeom prst="rect">
            <a:avLst/>
          </a:prstGeom>
          <a:noFill/>
          <a:ln/>
        </p:spPr>
        <p:txBody>
          <a:bodyPr wrap="square" lIns="0" tIns="0" rIns="0" bIns="0" rtlCol="0" anchor="ctr">
            <a:normAutofit/>
          </a:bodyPr>
          <a:lstStyle/>
          <a:p>
            <a:pPr marL="0" indent="0" algn="ctr">
              <a:buNone/>
            </a:pPr>
            <a:r>
              <a:rPr lang="en-US" sz="1000" b="1" dirty="0">
                <a:solidFill>
                  <a:srgbClr val="18212B"/>
                </a:solidFill>
              </a:rPr>
              <a:t>Mistral</a:t>
            </a:r>
            <a:endParaRPr lang="en-US" sz="1000" dirty="0"/>
          </a:p>
        </p:txBody>
      </p:sp>
      <p:sp>
        <p:nvSpPr>
          <p:cNvPr id="35" name="Text 33"/>
          <p:cNvSpPr/>
          <p:nvPr/>
        </p:nvSpPr>
        <p:spPr>
          <a:xfrm rot="16200000">
            <a:off x="-146984" y="3044952"/>
            <a:ext cx="900000" cy="777240"/>
          </a:xfrm>
          <a:prstGeom prst="rect">
            <a:avLst/>
          </a:prstGeom>
          <a:noFill/>
          <a:ln/>
        </p:spPr>
        <p:txBody>
          <a:bodyPr wrap="square" lIns="0" tIns="0" rIns="0" bIns="0" rtlCol="0" anchor="ctr"/>
          <a:lstStyle/>
          <a:p>
            <a:pPr marL="0" indent="0">
              <a:buNone/>
            </a:pPr>
            <a:r>
              <a:rPr lang="en-US" sz="850" dirty="0">
                <a:solidFill>
                  <a:srgbClr val="69737D"/>
                </a:solidFill>
              </a:rPr>
              <a:t>Patient count</a:t>
            </a:r>
            <a:endParaRPr lang="en-US" sz="850" dirty="0"/>
          </a:p>
        </p:txBody>
      </p:sp>
      <p:sp>
        <p:nvSpPr>
          <p:cNvPr id="36" name="Text 34"/>
          <p:cNvSpPr/>
          <p:nvPr/>
        </p:nvSpPr>
        <p:spPr>
          <a:xfrm>
            <a:off x="7333488" y="1097280"/>
            <a:ext cx="1874520" cy="256032"/>
          </a:xfrm>
          <a:prstGeom prst="rect">
            <a:avLst/>
          </a:prstGeom>
          <a:solidFill>
            <a:srgbClr val="C96A55"/>
          </a:solidFill>
          <a:ln/>
        </p:spPr>
        <p:txBody>
          <a:bodyPr wrap="square" lIns="508" tIns="508" rIns="508" bIns="508" rtlCol="0" anchor="ctr"/>
          <a:lstStyle/>
          <a:p>
            <a:pPr marL="0" indent="0" algn="ctr">
              <a:buNone/>
            </a:pPr>
            <a:r>
              <a:rPr lang="en-US" sz="900" b="1" dirty="0">
                <a:solidFill>
                  <a:srgbClr val="FFFFFF"/>
                </a:solidFill>
              </a:rPr>
              <a:t>False positives in baseline</a:t>
            </a:r>
            <a:endParaRPr lang="en-US" sz="900" dirty="0"/>
          </a:p>
        </p:txBody>
      </p:sp>
      <p:sp>
        <p:nvSpPr>
          <p:cNvPr id="37" name="Text 35"/>
          <p:cNvSpPr/>
          <p:nvPr/>
        </p:nvSpPr>
        <p:spPr>
          <a:xfrm>
            <a:off x="9308592" y="1097280"/>
            <a:ext cx="2011680" cy="256032"/>
          </a:xfrm>
          <a:prstGeom prst="rect">
            <a:avLst/>
          </a:prstGeom>
          <a:solidFill>
            <a:srgbClr val="2F7D7E"/>
          </a:solidFill>
          <a:ln/>
        </p:spPr>
        <p:txBody>
          <a:bodyPr wrap="square" lIns="508" tIns="508" rIns="508" bIns="508" rtlCol="0" anchor="ctr"/>
          <a:lstStyle/>
          <a:p>
            <a:pPr marL="0" indent="0" algn="ctr">
              <a:buNone/>
            </a:pPr>
            <a:r>
              <a:rPr lang="en-US" sz="900" b="1" dirty="0">
                <a:solidFill>
                  <a:srgbClr val="FFFFFF"/>
                </a:solidFill>
              </a:rPr>
              <a:t>False negatives in treatment</a:t>
            </a:r>
            <a:endParaRPr lang="en-US" sz="900" dirty="0"/>
          </a:p>
        </p:txBody>
      </p:sp>
      <p:sp>
        <p:nvSpPr>
          <p:cNvPr id="38" name="Text 36"/>
          <p:cNvSpPr/>
          <p:nvPr/>
        </p:nvSpPr>
        <p:spPr>
          <a:xfrm>
            <a:off x="2971800" y="1353312"/>
            <a:ext cx="2423160" cy="219456"/>
          </a:xfrm>
          <a:prstGeom prst="rect">
            <a:avLst/>
          </a:prstGeom>
          <a:noFill/>
          <a:ln/>
        </p:spPr>
        <p:txBody>
          <a:bodyPr wrap="square" lIns="0" tIns="0" rIns="0" bIns="0" rtlCol="0" anchor="ctr"/>
          <a:lstStyle/>
          <a:p>
            <a:pPr marL="0" indent="0" algn="ctr">
              <a:buNone/>
            </a:pPr>
            <a:r>
              <a:rPr lang="en-US" sz="1100" b="1" dirty="0">
                <a:solidFill>
                  <a:srgbClr val="C96A55"/>
                </a:solidFill>
              </a:rPr>
              <a:t>OpenBioLLM: 89 / 96 baseline flagged positive</a:t>
            </a:r>
            <a:endParaRPr lang="en-US" sz="1100" dirty="0"/>
          </a:p>
        </p:txBody>
      </p:sp>
      <p:sp>
        <p:nvSpPr>
          <p:cNvPr id="39" name="Text 37"/>
          <p:cNvSpPr/>
          <p:nvPr/>
        </p:nvSpPr>
        <p:spPr>
          <a:xfrm>
            <a:off x="6492240" y="1353312"/>
            <a:ext cx="2148840" cy="219456"/>
          </a:xfrm>
          <a:prstGeom prst="rect">
            <a:avLst/>
          </a:prstGeom>
          <a:noFill/>
          <a:ln/>
        </p:spPr>
        <p:txBody>
          <a:bodyPr wrap="square" lIns="0" tIns="0" rIns="0" bIns="0" rtlCol="0" anchor="ctr"/>
          <a:lstStyle/>
          <a:p>
            <a:pPr marL="0" indent="0" algn="ctr">
              <a:buNone/>
            </a:pPr>
            <a:r>
              <a:rPr lang="en-US" sz="1100" b="1" dirty="0">
                <a:solidFill>
                  <a:srgbClr val="2F7D7E"/>
                </a:solidFill>
              </a:rPr>
              <a:t>Qwen: 74 / 172 treated missed</a:t>
            </a:r>
            <a:endParaRPr lang="en-US" sz="1100" dirty="0"/>
          </a:p>
        </p:txBody>
      </p:sp>
      <p:sp>
        <p:nvSpPr>
          <p:cNvPr id="40" name="Slide Number Placeholder 0"/>
          <p:cNvSpPr>
            <a:spLocks noGrp="1"/>
          </p:cNvSpPr>
          <p:nvPr>
            <p:ph type="sldNum" sz="quarter" idx="4294967295"/>
          </p:nvPr>
        </p:nvSpPr>
        <p:spPr>
          <a:xfrm>
            <a:off x="11384280" y="661111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FFFFFF"/>
                </a:solidFill>
              </a:defRPr>
            </a:lvl1pPr>
          </a:lstStyle>
          <a:p>
            <a:pPr algn="l"/>
            <a:fld id="{F7021451-1387-4CA6-816F-3879F97B5CBC}" type="slidenum">
              <a:rPr lang="en-US" b="0"/>
              <a:t>5</a:t>
            </a:fld>
            <a:endParaRPr lang="en-US"/>
          </a:p>
        </p:txBody>
      </p:sp>
      <p:pic>
        <p:nvPicPr>
          <p:cNvPr id="42" name="Audio 41">
            <a:extLst>
              <a:ext uri="{FF2B5EF4-FFF2-40B4-BE49-F238E27FC236}">
                <a16:creationId xmlns:a16="http://schemas.microsoft.com/office/drawing/2014/main" id="{B225234A-F5C6-ACA5-4077-03AF6FCA3E8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69"/>
    </mc:Choice>
    <mc:Fallback>
      <p:transition spd="slow" advTm="380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02920" y="292608"/>
            <a:ext cx="11064240" cy="950000"/>
          </a:xfrm>
          <a:prstGeom prst="rect">
            <a:avLst/>
          </a:prstGeom>
          <a:noFill/>
          <a:ln/>
        </p:spPr>
        <p:txBody>
          <a:bodyPr wrap="square" lIns="0" tIns="0" rIns="0" bIns="0" rtlCol="0" anchor="ctr"/>
          <a:lstStyle/>
          <a:p>
            <a:pPr marL="0" indent="0">
              <a:buNone/>
            </a:pPr>
            <a:r>
              <a:rPr lang="en-US" sz="2700" b="1" dirty="0">
                <a:solidFill>
                  <a:srgbClr val="19324D"/>
                </a:solidFill>
                <a:latin typeface="Aptos Display" pitchFamily="34" charset="0"/>
                <a:ea typeface="Aptos Display" pitchFamily="34" charset="-122"/>
                <a:cs typeface="Aptos Display" pitchFamily="34" charset="-120"/>
              </a:rPr>
              <a:t>Conclusion: notes complement—but did not replace—structured EHR</a:t>
            </a:r>
            <a:endParaRPr lang="en-US" sz="2700" dirty="0"/>
          </a:p>
        </p:txBody>
      </p:sp>
      <p:sp>
        <p:nvSpPr>
          <p:cNvPr id="3" name="Text 1"/>
          <p:cNvSpPr/>
          <p:nvPr/>
        </p:nvSpPr>
        <p:spPr>
          <a:xfrm>
            <a:off x="530352" y="1320000"/>
            <a:ext cx="10789920" cy="201168"/>
          </a:xfrm>
          <a:prstGeom prst="rect">
            <a:avLst/>
          </a:prstGeom>
          <a:noFill/>
          <a:ln/>
        </p:spPr>
        <p:txBody>
          <a:bodyPr wrap="square" lIns="0" tIns="0" rIns="0" bIns="0" rtlCol="0" anchor="ctr"/>
          <a:lstStyle/>
          <a:p>
            <a:pPr marL="0" indent="0">
              <a:buNone/>
            </a:pPr>
            <a:r>
              <a:rPr lang="en-US" sz="1150" dirty="0">
                <a:solidFill>
                  <a:srgbClr val="69737D"/>
                </a:solidFill>
              </a:rPr>
              <a:t>Best use: structured data for strict exposure assignment, notes for clinical context</a:t>
            </a:r>
            <a:endParaRPr lang="en-US" sz="1150" dirty="0"/>
          </a:p>
        </p:txBody>
      </p:sp>
      <p:sp>
        <p:nvSpPr>
          <p:cNvPr id="4" name="Text 2"/>
          <p:cNvSpPr/>
          <p:nvPr/>
        </p:nvSpPr>
        <p:spPr>
          <a:xfrm>
            <a:off x="868680" y="1572768"/>
            <a:ext cx="4800600" cy="2148840"/>
          </a:xfrm>
          <a:prstGeom prst="rect">
            <a:avLst/>
          </a:prstGeom>
          <a:solidFill>
            <a:srgbClr val="E9F4F2"/>
          </a:solidFill>
          <a:ln w="12700">
            <a:solidFill>
              <a:srgbClr val="2F7D7E"/>
            </a:solidFill>
          </a:ln>
        </p:spPr>
        <p:txBody>
          <a:bodyPr wrap="square" lIns="1016" tIns="1016" rIns="1016" bIns="1016" rtlCol="0" anchor="ctr">
            <a:normAutofit/>
          </a:bodyPr>
          <a:lstStyle/>
          <a:p>
            <a:pPr marL="0" indent="0" algn="l">
              <a:buNone/>
            </a:pPr>
            <a:r>
              <a:rPr lang="en-US" sz="1500" dirty="0">
                <a:solidFill>
                  <a:srgbClr val="18212B"/>
                </a:solidFill>
              </a:rPr>
              <a:t>Structured EHR data</a:t>
            </a:r>
            <a:endParaRPr lang="en-US" sz="1500" dirty="0"/>
          </a:p>
          <a:p>
            <a:pPr marL="0" indent="0" algn="l">
              <a:buNone/>
            </a:pPr>
            <a:endParaRPr lang="en-US" sz="1500" dirty="0"/>
          </a:p>
          <a:p>
            <a:pPr marL="0" indent="0" algn="l">
              <a:buNone/>
            </a:pPr>
            <a:r>
              <a:rPr lang="en-US" sz="1500" dirty="0">
                <a:solidFill>
                  <a:srgbClr val="18212B"/>
                </a:solidFill>
              </a:rPr>
              <a:t>More reliable for cohort exposure</a:t>
            </a:r>
            <a:endParaRPr lang="en-US" sz="1500" dirty="0"/>
          </a:p>
          <a:p>
            <a:pPr marL="0" indent="0" algn="l">
              <a:buNone/>
            </a:pPr>
            <a:r>
              <a:rPr lang="en-US" sz="1500" dirty="0">
                <a:solidFill>
                  <a:srgbClr val="18212B"/>
                </a:solidFill>
              </a:rPr>
              <a:t>• Reproducible drug_exposure records</a:t>
            </a:r>
            <a:endParaRPr lang="en-US" sz="1500" dirty="0"/>
          </a:p>
          <a:p>
            <a:pPr marL="0" indent="0" algn="l">
              <a:buNone/>
            </a:pPr>
            <a:r>
              <a:rPr lang="en-US" sz="1500" dirty="0">
                <a:solidFill>
                  <a:srgbClr val="18212B"/>
                </a:solidFill>
              </a:rPr>
              <a:t>• No model calibration drift</a:t>
            </a:r>
            <a:endParaRPr lang="en-US" sz="1500" dirty="0"/>
          </a:p>
          <a:p>
            <a:pPr marL="0" indent="0" algn="l">
              <a:buNone/>
            </a:pPr>
            <a:r>
              <a:rPr lang="en-US" sz="1500" dirty="0">
                <a:solidFill>
                  <a:srgbClr val="18212B"/>
                </a:solidFill>
              </a:rPr>
              <a:t>• Best for strict inclusion/exclusion</a:t>
            </a:r>
            <a:endParaRPr lang="en-US" sz="1500" dirty="0"/>
          </a:p>
        </p:txBody>
      </p:sp>
      <p:sp>
        <p:nvSpPr>
          <p:cNvPr id="5" name="Shape 3"/>
          <p:cNvSpPr/>
          <p:nvPr/>
        </p:nvSpPr>
        <p:spPr>
          <a:xfrm>
            <a:off x="5852160" y="2651760"/>
            <a:ext cx="502920" cy="0"/>
          </a:xfrm>
          <a:prstGeom prst="line">
            <a:avLst/>
          </a:prstGeom>
          <a:noFill/>
          <a:ln w="17780">
            <a:solidFill>
              <a:srgbClr val="19324D"/>
            </a:solidFill>
            <a:prstDash val="solid"/>
            <a:tailEnd type="triangle"/>
          </a:ln>
        </p:spPr>
        <p:txBody>
          <a:bodyPr/>
          <a:lstStyle/>
          <a:p>
            <a:endParaRPr lang="en-US"/>
          </a:p>
        </p:txBody>
      </p:sp>
      <p:sp>
        <p:nvSpPr>
          <p:cNvPr id="6" name="Text 4"/>
          <p:cNvSpPr/>
          <p:nvPr/>
        </p:nvSpPr>
        <p:spPr>
          <a:xfrm>
            <a:off x="5532120" y="3886200"/>
            <a:ext cx="1143000" cy="146304"/>
          </a:xfrm>
          <a:prstGeom prst="rect">
            <a:avLst/>
          </a:prstGeom>
          <a:noFill/>
          <a:ln/>
        </p:spPr>
        <p:txBody>
          <a:bodyPr wrap="square" lIns="0" tIns="0" rIns="0" bIns="0" rtlCol="0" anchor="ctr"/>
          <a:lstStyle/>
          <a:p>
            <a:pPr marL="0" indent="0" algn="ctr">
              <a:buNone/>
            </a:pPr>
            <a:r>
              <a:rPr lang="en-US" sz="1000" dirty="0">
                <a:solidFill>
                  <a:srgbClr val="69737D"/>
                </a:solidFill>
              </a:rPr>
              <a:t>final answer</a:t>
            </a:r>
            <a:endParaRPr lang="en-US" sz="1000" dirty="0"/>
          </a:p>
        </p:txBody>
      </p:sp>
      <p:sp>
        <p:nvSpPr>
          <p:cNvPr id="7" name="Text 5"/>
          <p:cNvSpPr/>
          <p:nvPr/>
        </p:nvSpPr>
        <p:spPr>
          <a:xfrm>
            <a:off x="6565392" y="1572768"/>
            <a:ext cx="4800600" cy="2148840"/>
          </a:xfrm>
          <a:prstGeom prst="rect">
            <a:avLst/>
          </a:prstGeom>
          <a:solidFill>
            <a:srgbClr val="FFFDF8"/>
          </a:solidFill>
          <a:ln w="12700">
            <a:solidFill>
              <a:srgbClr val="D7D3C8"/>
            </a:solidFill>
          </a:ln>
        </p:spPr>
        <p:txBody>
          <a:bodyPr wrap="square" lIns="1016" tIns="1016" rIns="1016" bIns="1016" rtlCol="0" anchor="ctr">
            <a:normAutofit/>
          </a:bodyPr>
          <a:lstStyle/>
          <a:p>
            <a:pPr marL="0" indent="0" algn="l">
              <a:buNone/>
            </a:pPr>
            <a:r>
              <a:rPr lang="en-US" sz="1500" dirty="0">
                <a:solidFill>
                  <a:srgbClr val="18212B"/>
                </a:solidFill>
              </a:rPr>
              <a:t>Clinical notes + LLMs</a:t>
            </a:r>
            <a:endParaRPr lang="en-US" sz="1500" dirty="0"/>
          </a:p>
          <a:p>
            <a:pPr marL="0" indent="0" algn="l">
              <a:buNone/>
            </a:pPr>
            <a:endParaRPr lang="en-US" sz="1500" dirty="0"/>
          </a:p>
          <a:p>
            <a:pPr marL="0" indent="0" algn="l">
              <a:buNone/>
            </a:pPr>
            <a:r>
              <a:rPr lang="en-US" sz="1500" dirty="0">
                <a:solidFill>
                  <a:srgbClr val="18212B"/>
                </a:solidFill>
              </a:rPr>
              <a:t>Valuable context, less stable for exposure</a:t>
            </a:r>
            <a:endParaRPr lang="en-US" sz="1500" dirty="0"/>
          </a:p>
          <a:p>
            <a:pPr marL="0" indent="0" algn="l">
              <a:buNone/>
            </a:pPr>
            <a:r>
              <a:rPr lang="en-US" sz="1500" dirty="0">
                <a:solidFill>
                  <a:srgbClr val="18212B"/>
                </a:solidFill>
              </a:rPr>
              <a:t>• Captures rationale/response</a:t>
            </a:r>
            <a:endParaRPr lang="en-US" sz="1500" dirty="0"/>
          </a:p>
          <a:p>
            <a:pPr marL="0" indent="0" algn="l">
              <a:buNone/>
            </a:pPr>
            <a:r>
              <a:rPr lang="en-US" sz="1500" dirty="0">
                <a:solidFill>
                  <a:srgbClr val="18212B"/>
                </a:solidFill>
              </a:rPr>
              <a:t>• Varies across models</a:t>
            </a:r>
            <a:endParaRPr lang="en-US" sz="1500" dirty="0"/>
          </a:p>
          <a:p>
            <a:pPr marL="0" indent="0" algn="l">
              <a:buNone/>
            </a:pPr>
            <a:r>
              <a:rPr lang="en-US" sz="1500" dirty="0">
                <a:solidFill>
                  <a:srgbClr val="18212B"/>
                </a:solidFill>
              </a:rPr>
              <a:t>• Can over- or under-predict mentions</a:t>
            </a:r>
            <a:endParaRPr lang="en-US" sz="1500" dirty="0"/>
          </a:p>
        </p:txBody>
      </p:sp>
      <p:sp>
        <p:nvSpPr>
          <p:cNvPr id="8" name="Text 6"/>
          <p:cNvSpPr/>
          <p:nvPr/>
        </p:nvSpPr>
        <p:spPr>
          <a:xfrm>
            <a:off x="1965960" y="4434840"/>
            <a:ext cx="8275320" cy="713232"/>
          </a:xfrm>
          <a:prstGeom prst="rect">
            <a:avLst/>
          </a:prstGeom>
          <a:solidFill>
            <a:srgbClr val="19324D"/>
          </a:solidFill>
          <a:ln w="12700">
            <a:solidFill>
              <a:srgbClr val="19324D"/>
            </a:solidFill>
          </a:ln>
        </p:spPr>
        <p:txBody>
          <a:bodyPr wrap="square" lIns="1016" tIns="1016" rIns="1016" bIns="1016" rtlCol="0" anchor="ctr">
            <a:normAutofit/>
          </a:bodyPr>
          <a:lstStyle/>
          <a:p>
            <a:pPr marL="0" indent="0" algn="ctr">
              <a:buNone/>
            </a:pPr>
            <a:r>
              <a:rPr lang="en-US" sz="1500" b="1" dirty="0">
                <a:solidFill>
                  <a:srgbClr val="FFFFFF"/>
                </a:solidFill>
              </a:rPr>
              <a:t>Main takeaway: Clinical notes validate and enrich the cohort, but structured medication data is the safer source for assigning drug exposure.</a:t>
            </a:r>
            <a:endParaRPr lang="en-US" sz="1500" dirty="0"/>
          </a:p>
        </p:txBody>
      </p:sp>
      <p:sp>
        <p:nvSpPr>
          <p:cNvPr id="25" name="Slide Number Placeholder 0"/>
          <p:cNvSpPr>
            <a:spLocks noGrp="1"/>
          </p:cNvSpPr>
          <p:nvPr>
            <p:ph type="sldNum" sz="quarter" idx="4294967295"/>
          </p:nvPr>
        </p:nvSpPr>
        <p:spPr>
          <a:xfrm>
            <a:off x="11384280" y="661111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FFFFFF"/>
                </a:solidFill>
              </a:defRPr>
            </a:lvl1pPr>
          </a:lstStyle>
          <a:p>
            <a:pPr algn="l"/>
            <a:fld id="{F7021451-1387-4CA6-816F-3879F97B5CBC}" type="slidenum">
              <a:rPr lang="en-US" b="0"/>
              <a:t>6</a:t>
            </a:fld>
            <a:endParaRPr lang="en-US"/>
          </a:p>
        </p:txBody>
      </p:sp>
      <p:pic>
        <p:nvPicPr>
          <p:cNvPr id="10" name="Audio 9">
            <a:extLst>
              <a:ext uri="{FF2B5EF4-FFF2-40B4-BE49-F238E27FC236}">
                <a16:creationId xmlns:a16="http://schemas.microsoft.com/office/drawing/2014/main" id="{9F04C5DB-760D-9712-370C-624E485A737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08"/>
    </mc:Choice>
    <mc:Fallback>
      <p:transition spd="slow" advTm="401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926</Words>
  <Application>Microsoft Macintosh PowerPoint</Application>
  <PresentationFormat>Widescreen</PresentationFormat>
  <Paragraphs>116</Paragraphs>
  <Slides>6</Slides>
  <Notes>6</Notes>
  <HiddenSlides>0</HiddenSlides>
  <MMClips>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Milestone 2: Cohort Validity and Clinical Note Analysis</dc:title>
  <dc:subject>Milestone 2 video slides</dc:subject>
  <dc:creator>Srish Guha Maulik</dc:creator>
  <cp:lastModifiedBy>Guha Maulik, Srish</cp:lastModifiedBy>
  <cp:revision>3</cp:revision>
  <dcterms:created xsi:type="dcterms:W3CDTF">2026-09-07T21:50:11Z</dcterms:created>
  <dcterms:modified xsi:type="dcterms:W3CDTF">2026-09-07T23:05:43Z</dcterms:modified>
</cp:coreProperties>
</file>